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6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Arimo Bold" charset="1" panose="020B0704020202020204"/>
      <p:regular r:id="rId19"/>
    </p:embeddedFont>
    <p:embeddedFont>
      <p:font typeface="Bitter" charset="1" panose="02000000000000000000"/>
      <p:regular r:id="rId20"/>
    </p:embeddedFont>
    <p:embeddedFont>
      <p:font typeface="Bitter Bold" charset="1" panose="02000000000000000000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notesMasters/notesMaster1.xml" Type="http://schemas.openxmlformats.org/officeDocument/2006/relationships/notesMaster"/><Relationship Id="rId17" Target="theme/theme2.xml" Type="http://schemas.openxmlformats.org/officeDocument/2006/relationships/theme"/><Relationship Id="rId18" Target="notesSlides/notesSlide1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notesSlides/notesSlide9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10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9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1.png" Type="http://schemas.openxmlformats.org/officeDocument/2006/relationships/image"/><Relationship Id="rId4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4.pn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Relationship Id="rId6" Target="../media/image19.png" Type="http://schemas.openxmlformats.org/officeDocument/2006/relationships/image"/><Relationship Id="rId7" Target="../media/image2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9.png" Type="http://schemas.openxmlformats.org/officeDocument/2006/relationships/image"/><Relationship Id="rId11" Target="../media/image30.svg" Type="http://schemas.openxmlformats.org/officeDocument/2006/relationships/image"/><Relationship Id="rId2" Target="../notesSlides/notesSlide9.xml" Type="http://schemas.openxmlformats.org/officeDocument/2006/relationships/notesSlide"/><Relationship Id="rId3" Target="../media/image22.png" Type="http://schemas.openxmlformats.org/officeDocument/2006/relationships/image"/><Relationship Id="rId4" Target="../media/image23.png" Type="http://schemas.openxmlformats.org/officeDocument/2006/relationships/image"/><Relationship Id="rId5" Target="../media/image24.svg" Type="http://schemas.openxmlformats.org/officeDocument/2006/relationships/image"/><Relationship Id="rId6" Target="../media/image25.png" Type="http://schemas.openxmlformats.org/officeDocument/2006/relationships/image"/><Relationship Id="rId7" Target="../media/image26.svg" Type="http://schemas.openxmlformats.org/officeDocument/2006/relationships/image"/><Relationship Id="rId8" Target="../media/image27.png" Type="http://schemas.openxmlformats.org/officeDocument/2006/relationships/image"/><Relationship Id="rId9" Target="../media/image28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8.svg" Type="http://schemas.openxmlformats.org/officeDocument/2006/relationships/image"/><Relationship Id="rId11" Target="../media/image39.png" Type="http://schemas.openxmlformats.org/officeDocument/2006/relationships/image"/><Relationship Id="rId2" Target="../notesSlides/notesSlide10.xml" Type="http://schemas.openxmlformats.org/officeDocument/2006/relationships/notesSlid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33.png" Type="http://schemas.openxmlformats.org/officeDocument/2006/relationships/image"/><Relationship Id="rId6" Target="../media/image34.svg" Type="http://schemas.openxmlformats.org/officeDocument/2006/relationships/image"/><Relationship Id="rId7" Target="../media/image35.png" Type="http://schemas.openxmlformats.org/officeDocument/2006/relationships/image"/><Relationship Id="rId8" Target="../media/image36.svg" Type="http://schemas.openxmlformats.org/officeDocument/2006/relationships/image"/><Relationship Id="rId9" Target="../media/image3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087100" y="0"/>
            <a:ext cx="7200900" cy="10287000"/>
            <a:chOff x="0" y="0"/>
            <a:chExt cx="96012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3590776"/>
            <a:ext cx="9393436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Mobile Phone Price Predictor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2238" y="5606512"/>
            <a:ext cx="9445526" cy="4238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2"/>
              </a:lnSpc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AI-Powered Price Prediction with 99% Accuracy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087100" y="-1340"/>
            <a:ext cx="7200900" cy="10288340"/>
            <a:chOff x="0" y="0"/>
            <a:chExt cx="9601200" cy="13717787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601200" cy="13717778"/>
            </a:xfrm>
            <a:custGeom>
              <a:avLst/>
              <a:gdLst/>
              <a:ahLst/>
              <a:cxnLst/>
              <a:rect r="r" b="b" t="t" l="l"/>
              <a:pathLst>
                <a:path h="13717778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7778"/>
                  </a:lnTo>
                  <a:lnTo>
                    <a:pt x="0" y="137177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6" t="0" r="-6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90116" y="504081"/>
            <a:ext cx="4930080" cy="654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3875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Project Overview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90116" y="1454200"/>
            <a:ext cx="10049767" cy="1925091"/>
            <a:chOff x="0" y="0"/>
            <a:chExt cx="13399690" cy="25667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399770" cy="2566797"/>
            </a:xfrm>
            <a:custGeom>
              <a:avLst/>
              <a:gdLst/>
              <a:ahLst/>
              <a:cxnLst/>
              <a:rect r="r" b="b" t="t" l="l"/>
              <a:pathLst>
                <a:path h="2566797" w="13399770">
                  <a:moveTo>
                    <a:pt x="0" y="39497"/>
                  </a:moveTo>
                  <a:cubicBezTo>
                    <a:pt x="0" y="17653"/>
                    <a:pt x="17653" y="0"/>
                    <a:pt x="39497" y="0"/>
                  </a:cubicBezTo>
                  <a:lnTo>
                    <a:pt x="13360273" y="0"/>
                  </a:lnTo>
                  <a:cubicBezTo>
                    <a:pt x="13382117" y="0"/>
                    <a:pt x="13399770" y="17653"/>
                    <a:pt x="13399770" y="39497"/>
                  </a:cubicBezTo>
                  <a:lnTo>
                    <a:pt x="13399770" y="2527300"/>
                  </a:lnTo>
                  <a:cubicBezTo>
                    <a:pt x="13399770" y="2549144"/>
                    <a:pt x="13382117" y="2566797"/>
                    <a:pt x="13360273" y="2566797"/>
                  </a:cubicBezTo>
                  <a:lnTo>
                    <a:pt x="39497" y="2566797"/>
                  </a:lnTo>
                  <a:cubicBezTo>
                    <a:pt x="17653" y="2566797"/>
                    <a:pt x="0" y="2549144"/>
                    <a:pt x="0" y="2527300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887314" y="1651397"/>
            <a:ext cx="591591" cy="591591"/>
            <a:chOff x="0" y="0"/>
            <a:chExt cx="788788" cy="78878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88797" cy="788797"/>
            </a:xfrm>
            <a:custGeom>
              <a:avLst/>
              <a:gdLst/>
              <a:ahLst/>
              <a:cxnLst/>
              <a:rect r="r" b="b" t="t" l="l"/>
              <a:pathLst>
                <a:path h="788797" w="788797">
                  <a:moveTo>
                    <a:pt x="0" y="394335"/>
                  </a:moveTo>
                  <a:cubicBezTo>
                    <a:pt x="0" y="176530"/>
                    <a:pt x="176530" y="0"/>
                    <a:pt x="394335" y="0"/>
                  </a:cubicBezTo>
                  <a:cubicBezTo>
                    <a:pt x="612140" y="0"/>
                    <a:pt x="788797" y="176530"/>
                    <a:pt x="788797" y="394335"/>
                  </a:cubicBezTo>
                  <a:cubicBezTo>
                    <a:pt x="788797" y="612140"/>
                    <a:pt x="612267" y="788797"/>
                    <a:pt x="394335" y="788797"/>
                  </a:cubicBezTo>
                  <a:cubicBezTo>
                    <a:pt x="176403" y="788797"/>
                    <a:pt x="0" y="612267"/>
                    <a:pt x="0" y="394335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Freeform 13" id="13" descr="preencoded.png"/>
          <p:cNvSpPr/>
          <p:nvPr/>
        </p:nvSpPr>
        <p:spPr>
          <a:xfrm flipH="false" flipV="false" rot="0">
            <a:off x="1049982" y="1814066"/>
            <a:ext cx="266105" cy="266105"/>
          </a:xfrm>
          <a:custGeom>
            <a:avLst/>
            <a:gdLst/>
            <a:ahLst/>
            <a:cxnLst/>
            <a:rect r="r" b="b" t="t" l="l"/>
            <a:pathLst>
              <a:path h="266105" w="266105">
                <a:moveTo>
                  <a:pt x="0" y="0"/>
                </a:moveTo>
                <a:lnTo>
                  <a:pt x="266106" y="0"/>
                </a:lnTo>
                <a:lnTo>
                  <a:pt x="266106" y="266105"/>
                </a:lnTo>
                <a:lnTo>
                  <a:pt x="0" y="2661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887314" y="2421136"/>
            <a:ext cx="2465040" cy="32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3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Objective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7314" y="2809429"/>
            <a:ext cx="9655374" cy="37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Predict mobile phone price categories using AI across 4 price ranges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690116" y="3576489"/>
            <a:ext cx="10049767" cy="1925091"/>
            <a:chOff x="0" y="0"/>
            <a:chExt cx="13399690" cy="256678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399770" cy="2566797"/>
            </a:xfrm>
            <a:custGeom>
              <a:avLst/>
              <a:gdLst/>
              <a:ahLst/>
              <a:cxnLst/>
              <a:rect r="r" b="b" t="t" l="l"/>
              <a:pathLst>
                <a:path h="2566797" w="13399770">
                  <a:moveTo>
                    <a:pt x="0" y="39497"/>
                  </a:moveTo>
                  <a:cubicBezTo>
                    <a:pt x="0" y="17653"/>
                    <a:pt x="17653" y="0"/>
                    <a:pt x="39497" y="0"/>
                  </a:cubicBezTo>
                  <a:lnTo>
                    <a:pt x="13360273" y="0"/>
                  </a:lnTo>
                  <a:cubicBezTo>
                    <a:pt x="13382117" y="0"/>
                    <a:pt x="13399770" y="17653"/>
                    <a:pt x="13399770" y="39497"/>
                  </a:cubicBezTo>
                  <a:lnTo>
                    <a:pt x="13399770" y="2527300"/>
                  </a:lnTo>
                  <a:cubicBezTo>
                    <a:pt x="13399770" y="2549144"/>
                    <a:pt x="13382117" y="2566797"/>
                    <a:pt x="13360273" y="2566797"/>
                  </a:cubicBezTo>
                  <a:lnTo>
                    <a:pt x="39497" y="2566797"/>
                  </a:lnTo>
                  <a:cubicBezTo>
                    <a:pt x="17653" y="2566797"/>
                    <a:pt x="0" y="2549144"/>
                    <a:pt x="0" y="2527300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grpSp>
        <p:nvGrpSpPr>
          <p:cNvPr name="Group 18" id="18"/>
          <p:cNvGrpSpPr/>
          <p:nvPr/>
        </p:nvGrpSpPr>
        <p:grpSpPr>
          <a:xfrm rot="0">
            <a:off x="887314" y="3773686"/>
            <a:ext cx="591591" cy="591591"/>
            <a:chOff x="0" y="0"/>
            <a:chExt cx="788788" cy="788788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788797" cy="788797"/>
            </a:xfrm>
            <a:custGeom>
              <a:avLst/>
              <a:gdLst/>
              <a:ahLst/>
              <a:cxnLst/>
              <a:rect r="r" b="b" t="t" l="l"/>
              <a:pathLst>
                <a:path h="788797" w="788797">
                  <a:moveTo>
                    <a:pt x="0" y="394335"/>
                  </a:moveTo>
                  <a:cubicBezTo>
                    <a:pt x="0" y="176530"/>
                    <a:pt x="176530" y="0"/>
                    <a:pt x="394335" y="0"/>
                  </a:cubicBezTo>
                  <a:cubicBezTo>
                    <a:pt x="612140" y="0"/>
                    <a:pt x="788797" y="176530"/>
                    <a:pt x="788797" y="394335"/>
                  </a:cubicBezTo>
                  <a:cubicBezTo>
                    <a:pt x="788797" y="612140"/>
                    <a:pt x="612267" y="788797"/>
                    <a:pt x="394335" y="788797"/>
                  </a:cubicBezTo>
                  <a:cubicBezTo>
                    <a:pt x="176403" y="788797"/>
                    <a:pt x="0" y="612267"/>
                    <a:pt x="0" y="394335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Freeform 20" id="20" descr="preencoded.png"/>
          <p:cNvSpPr/>
          <p:nvPr/>
        </p:nvSpPr>
        <p:spPr>
          <a:xfrm flipH="false" flipV="false" rot="0">
            <a:off x="1049982" y="3936355"/>
            <a:ext cx="266105" cy="266105"/>
          </a:xfrm>
          <a:custGeom>
            <a:avLst/>
            <a:gdLst/>
            <a:ahLst/>
            <a:cxnLst/>
            <a:rect r="r" b="b" t="t" l="l"/>
            <a:pathLst>
              <a:path h="266105" w="266105">
                <a:moveTo>
                  <a:pt x="0" y="0"/>
                </a:moveTo>
                <a:lnTo>
                  <a:pt x="266106" y="0"/>
                </a:lnTo>
                <a:lnTo>
                  <a:pt x="266106" y="266105"/>
                </a:lnTo>
                <a:lnTo>
                  <a:pt x="0" y="26610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-3571" r="0" b="-3571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887314" y="4543425"/>
            <a:ext cx="2465040" cy="32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3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Technology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87314" y="4931718"/>
            <a:ext cx="9655374" cy="37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Deep Learning with PyTorch on 2000 training samples with 20 features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690116" y="5698777"/>
            <a:ext cx="10049767" cy="1925091"/>
            <a:chOff x="0" y="0"/>
            <a:chExt cx="13399690" cy="256678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3399770" cy="2566797"/>
            </a:xfrm>
            <a:custGeom>
              <a:avLst/>
              <a:gdLst/>
              <a:ahLst/>
              <a:cxnLst/>
              <a:rect r="r" b="b" t="t" l="l"/>
              <a:pathLst>
                <a:path h="2566797" w="13399770">
                  <a:moveTo>
                    <a:pt x="0" y="39497"/>
                  </a:moveTo>
                  <a:cubicBezTo>
                    <a:pt x="0" y="17653"/>
                    <a:pt x="17653" y="0"/>
                    <a:pt x="39497" y="0"/>
                  </a:cubicBezTo>
                  <a:lnTo>
                    <a:pt x="13360273" y="0"/>
                  </a:lnTo>
                  <a:cubicBezTo>
                    <a:pt x="13382117" y="0"/>
                    <a:pt x="13399770" y="17653"/>
                    <a:pt x="13399770" y="39497"/>
                  </a:cubicBezTo>
                  <a:lnTo>
                    <a:pt x="13399770" y="2527300"/>
                  </a:lnTo>
                  <a:cubicBezTo>
                    <a:pt x="13399770" y="2549144"/>
                    <a:pt x="13382117" y="2566797"/>
                    <a:pt x="13360273" y="2566797"/>
                  </a:cubicBezTo>
                  <a:lnTo>
                    <a:pt x="39497" y="2566797"/>
                  </a:lnTo>
                  <a:cubicBezTo>
                    <a:pt x="17653" y="2566797"/>
                    <a:pt x="0" y="2549144"/>
                    <a:pt x="0" y="2527300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887314" y="5895975"/>
            <a:ext cx="591591" cy="591591"/>
            <a:chOff x="0" y="0"/>
            <a:chExt cx="788788" cy="78878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788797" cy="788797"/>
            </a:xfrm>
            <a:custGeom>
              <a:avLst/>
              <a:gdLst/>
              <a:ahLst/>
              <a:cxnLst/>
              <a:rect r="r" b="b" t="t" l="l"/>
              <a:pathLst>
                <a:path h="788797" w="788797">
                  <a:moveTo>
                    <a:pt x="0" y="394335"/>
                  </a:moveTo>
                  <a:cubicBezTo>
                    <a:pt x="0" y="176530"/>
                    <a:pt x="176530" y="0"/>
                    <a:pt x="394335" y="0"/>
                  </a:cubicBezTo>
                  <a:cubicBezTo>
                    <a:pt x="612140" y="0"/>
                    <a:pt x="788797" y="176530"/>
                    <a:pt x="788797" y="394335"/>
                  </a:cubicBezTo>
                  <a:cubicBezTo>
                    <a:pt x="788797" y="612140"/>
                    <a:pt x="612267" y="788797"/>
                    <a:pt x="394335" y="788797"/>
                  </a:cubicBezTo>
                  <a:cubicBezTo>
                    <a:pt x="176403" y="788797"/>
                    <a:pt x="0" y="612267"/>
                    <a:pt x="0" y="394335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Freeform 27" id="27" descr="preencoded.png"/>
          <p:cNvSpPr/>
          <p:nvPr/>
        </p:nvSpPr>
        <p:spPr>
          <a:xfrm flipH="false" flipV="false" rot="0">
            <a:off x="1049982" y="6058644"/>
            <a:ext cx="266105" cy="266105"/>
          </a:xfrm>
          <a:custGeom>
            <a:avLst/>
            <a:gdLst/>
            <a:ahLst/>
            <a:cxnLst/>
            <a:rect r="r" b="b" t="t" l="l"/>
            <a:pathLst>
              <a:path h="266105" w="266105">
                <a:moveTo>
                  <a:pt x="0" y="0"/>
                </a:moveTo>
                <a:lnTo>
                  <a:pt x="266106" y="0"/>
                </a:lnTo>
                <a:lnTo>
                  <a:pt x="266106" y="266105"/>
                </a:lnTo>
                <a:lnTo>
                  <a:pt x="0" y="2661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33928" r="0" b="-33928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887314" y="6665714"/>
            <a:ext cx="2465040" cy="32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3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Performance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887314" y="7054006"/>
            <a:ext cx="9655374" cy="37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99% accuracy with real-time predictions under 50ms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690116" y="7821066"/>
            <a:ext cx="10049767" cy="1925091"/>
            <a:chOff x="0" y="0"/>
            <a:chExt cx="13399690" cy="256678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3399770" cy="2566797"/>
            </a:xfrm>
            <a:custGeom>
              <a:avLst/>
              <a:gdLst/>
              <a:ahLst/>
              <a:cxnLst/>
              <a:rect r="r" b="b" t="t" l="l"/>
              <a:pathLst>
                <a:path h="2566797" w="13399770">
                  <a:moveTo>
                    <a:pt x="0" y="39497"/>
                  </a:moveTo>
                  <a:cubicBezTo>
                    <a:pt x="0" y="17653"/>
                    <a:pt x="17653" y="0"/>
                    <a:pt x="39497" y="0"/>
                  </a:cubicBezTo>
                  <a:lnTo>
                    <a:pt x="13360273" y="0"/>
                  </a:lnTo>
                  <a:cubicBezTo>
                    <a:pt x="13382117" y="0"/>
                    <a:pt x="13399770" y="17653"/>
                    <a:pt x="13399770" y="39497"/>
                  </a:cubicBezTo>
                  <a:lnTo>
                    <a:pt x="13399770" y="2527300"/>
                  </a:lnTo>
                  <a:cubicBezTo>
                    <a:pt x="13399770" y="2549144"/>
                    <a:pt x="13382117" y="2566797"/>
                    <a:pt x="13360273" y="2566797"/>
                  </a:cubicBezTo>
                  <a:lnTo>
                    <a:pt x="39497" y="2566797"/>
                  </a:lnTo>
                  <a:cubicBezTo>
                    <a:pt x="17653" y="2566797"/>
                    <a:pt x="0" y="2549144"/>
                    <a:pt x="0" y="2527300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grpSp>
        <p:nvGrpSpPr>
          <p:cNvPr name="Group 32" id="32"/>
          <p:cNvGrpSpPr/>
          <p:nvPr/>
        </p:nvGrpSpPr>
        <p:grpSpPr>
          <a:xfrm rot="0">
            <a:off x="887314" y="8018264"/>
            <a:ext cx="591591" cy="591591"/>
            <a:chOff x="0" y="0"/>
            <a:chExt cx="788788" cy="78878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88797" cy="788797"/>
            </a:xfrm>
            <a:custGeom>
              <a:avLst/>
              <a:gdLst/>
              <a:ahLst/>
              <a:cxnLst/>
              <a:rect r="r" b="b" t="t" l="l"/>
              <a:pathLst>
                <a:path h="788797" w="788797">
                  <a:moveTo>
                    <a:pt x="0" y="394335"/>
                  </a:moveTo>
                  <a:cubicBezTo>
                    <a:pt x="0" y="176530"/>
                    <a:pt x="176530" y="0"/>
                    <a:pt x="394335" y="0"/>
                  </a:cubicBezTo>
                  <a:cubicBezTo>
                    <a:pt x="612140" y="0"/>
                    <a:pt x="788797" y="176530"/>
                    <a:pt x="788797" y="394335"/>
                  </a:cubicBezTo>
                  <a:cubicBezTo>
                    <a:pt x="788797" y="612140"/>
                    <a:pt x="612267" y="788797"/>
                    <a:pt x="394335" y="788797"/>
                  </a:cubicBezTo>
                  <a:cubicBezTo>
                    <a:pt x="176403" y="788797"/>
                    <a:pt x="0" y="612267"/>
                    <a:pt x="0" y="394335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Freeform 34" id="34" descr="preencoded.png"/>
          <p:cNvSpPr/>
          <p:nvPr/>
        </p:nvSpPr>
        <p:spPr>
          <a:xfrm flipH="false" flipV="false" rot="0">
            <a:off x="1049982" y="8180934"/>
            <a:ext cx="266105" cy="266105"/>
          </a:xfrm>
          <a:custGeom>
            <a:avLst/>
            <a:gdLst/>
            <a:ahLst/>
            <a:cxnLst/>
            <a:rect r="r" b="b" t="t" l="l"/>
            <a:pathLst>
              <a:path h="266105" w="266105">
                <a:moveTo>
                  <a:pt x="0" y="0"/>
                </a:moveTo>
                <a:lnTo>
                  <a:pt x="266106" y="0"/>
                </a:lnTo>
                <a:lnTo>
                  <a:pt x="266106" y="266105"/>
                </a:lnTo>
                <a:lnTo>
                  <a:pt x="0" y="26610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887314" y="8788004"/>
            <a:ext cx="2465040" cy="327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93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Accessible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87314" y="9176296"/>
            <a:ext cx="9655374" cy="3726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WCAG 2.1 AA compliant with mobile-first responsive design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05916" y="673745"/>
            <a:ext cx="6471196" cy="8660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2"/>
              </a:lnSpc>
            </a:pPr>
            <a:r>
              <a:rPr lang="en-US" sz="5062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Dataset &amp; Features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05916" y="2148631"/>
            <a:ext cx="3882629" cy="52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00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Dataset Size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05916" y="2845147"/>
            <a:ext cx="6211640" cy="49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250"/>
              </a:lnSpc>
              <a:buFont typeface="Arial"/>
              <a:buChar char="•"/>
            </a:pPr>
            <a:r>
              <a:rPr lang="en-US" b="true" sz="2000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Training:</a:t>
            </a: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2000 samples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05916" y="3349675"/>
            <a:ext cx="6211640" cy="49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250"/>
              </a:lnSpc>
              <a:buFont typeface="Arial"/>
              <a:buChar char="•"/>
            </a:pPr>
            <a:r>
              <a:rPr lang="en-US" b="true" sz="2000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Testing:</a:t>
            </a: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500 samples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05916" y="3854203"/>
            <a:ext cx="6211640" cy="49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250"/>
              </a:lnSpc>
              <a:buFont typeface="Arial"/>
              <a:buChar char="•"/>
            </a:pPr>
            <a:r>
              <a:rPr lang="en-US" b="true" sz="2000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Features:</a:t>
            </a: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20 inputs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05916" y="4358729"/>
            <a:ext cx="6211640" cy="49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625" indent="-150812" lvl="1">
              <a:lnSpc>
                <a:spcPts val="3250"/>
              </a:lnSpc>
              <a:buFont typeface="Arial"/>
              <a:buChar char="•"/>
            </a:pPr>
            <a:r>
              <a:rPr lang="en-US" b="true" sz="2000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Target:</a:t>
            </a: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4 categories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05916" y="5079206"/>
            <a:ext cx="3882629" cy="52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00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Price Categories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05916" y="5775722"/>
            <a:ext cx="6211640" cy="49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 b="true">
                <a:solidFill>
                  <a:srgbClr val="9FA582"/>
                </a:solidFill>
                <a:latin typeface="Bitter Bold"/>
                <a:ea typeface="Bitter Bold"/>
                <a:cs typeface="Bitter Bold"/>
                <a:sym typeface="Bitter Bold"/>
              </a:rPr>
              <a:t>Low:</a:t>
            </a: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$0-200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05916" y="6422677"/>
            <a:ext cx="6211640" cy="49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 b="true">
                <a:solidFill>
                  <a:srgbClr val="9FA582"/>
                </a:solidFill>
                <a:latin typeface="Bitter Bold"/>
                <a:ea typeface="Bitter Bold"/>
                <a:cs typeface="Bitter Bold"/>
                <a:sym typeface="Bitter Bold"/>
              </a:rPr>
              <a:t>Medium:</a:t>
            </a: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$200-400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05916" y="7069634"/>
            <a:ext cx="6211640" cy="49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 b="true">
                <a:solidFill>
                  <a:srgbClr val="9FA582"/>
                </a:solidFill>
                <a:latin typeface="Bitter Bold"/>
                <a:ea typeface="Bitter Bold"/>
                <a:cs typeface="Bitter Bold"/>
                <a:sym typeface="Bitter Bold"/>
              </a:rPr>
              <a:t>High:</a:t>
            </a: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$400-600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05916" y="7716590"/>
            <a:ext cx="6211640" cy="49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 b="true">
                <a:solidFill>
                  <a:srgbClr val="9FA582"/>
                </a:solidFill>
                <a:latin typeface="Bitter Bold"/>
                <a:ea typeface="Bitter Bold"/>
                <a:cs typeface="Bitter Bold"/>
                <a:sym typeface="Bitter Bold"/>
              </a:rPr>
              <a:t>Very High:</a:t>
            </a: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$600+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758410" y="2148631"/>
            <a:ext cx="3882629" cy="523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2"/>
              </a:lnSpc>
            </a:pPr>
            <a:r>
              <a:rPr lang="en-US" sz="3000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20 Input Features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744123" y="2948880"/>
            <a:ext cx="4715619" cy="2094608"/>
            <a:chOff x="0" y="0"/>
            <a:chExt cx="6287492" cy="279281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19050" y="19050"/>
              <a:ext cx="6249416" cy="2754757"/>
            </a:xfrm>
            <a:custGeom>
              <a:avLst/>
              <a:gdLst/>
              <a:ahLst/>
              <a:cxnLst/>
              <a:rect r="r" b="b" t="t" l="l"/>
              <a:pathLst>
                <a:path h="2754757" w="6249416">
                  <a:moveTo>
                    <a:pt x="0" y="51816"/>
                  </a:moveTo>
                  <a:cubicBezTo>
                    <a:pt x="0" y="23114"/>
                    <a:pt x="23368" y="0"/>
                    <a:pt x="52197" y="0"/>
                  </a:cubicBezTo>
                  <a:lnTo>
                    <a:pt x="6197219" y="0"/>
                  </a:lnTo>
                  <a:cubicBezTo>
                    <a:pt x="6226048" y="0"/>
                    <a:pt x="6249416" y="23114"/>
                    <a:pt x="6249416" y="51816"/>
                  </a:cubicBezTo>
                  <a:lnTo>
                    <a:pt x="6249416" y="2702941"/>
                  </a:lnTo>
                  <a:cubicBezTo>
                    <a:pt x="6249416" y="2731516"/>
                    <a:pt x="6226048" y="2754757"/>
                    <a:pt x="6197219" y="2754757"/>
                  </a:cubicBezTo>
                  <a:lnTo>
                    <a:pt x="52197" y="2754757"/>
                  </a:lnTo>
                  <a:cubicBezTo>
                    <a:pt x="23368" y="2754757"/>
                    <a:pt x="0" y="2731643"/>
                    <a:pt x="0" y="2702941"/>
                  </a:cubicBezTo>
                  <a:close/>
                </a:path>
              </a:pathLst>
            </a:custGeom>
            <a:solidFill>
              <a:srgbClr val="1C1D1F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87516" cy="2792857"/>
            </a:xfrm>
            <a:custGeom>
              <a:avLst/>
              <a:gdLst/>
              <a:ahLst/>
              <a:cxnLst/>
              <a:rect r="r" b="b" t="t" l="l"/>
              <a:pathLst>
                <a:path h="2792857" w="6287516">
                  <a:moveTo>
                    <a:pt x="0" y="70866"/>
                  </a:moveTo>
                  <a:cubicBezTo>
                    <a:pt x="0" y="31623"/>
                    <a:pt x="32004" y="0"/>
                    <a:pt x="71247" y="0"/>
                  </a:cubicBezTo>
                  <a:lnTo>
                    <a:pt x="6216269" y="0"/>
                  </a:lnTo>
                  <a:lnTo>
                    <a:pt x="6216269" y="19050"/>
                  </a:lnTo>
                  <a:lnTo>
                    <a:pt x="6216269" y="0"/>
                  </a:lnTo>
                  <a:cubicBezTo>
                    <a:pt x="6255512" y="0"/>
                    <a:pt x="6287516" y="31623"/>
                    <a:pt x="6287516" y="70866"/>
                  </a:cubicBezTo>
                  <a:lnTo>
                    <a:pt x="6268466" y="70866"/>
                  </a:lnTo>
                  <a:lnTo>
                    <a:pt x="6287516" y="70866"/>
                  </a:lnTo>
                  <a:lnTo>
                    <a:pt x="6287516" y="2721991"/>
                  </a:lnTo>
                  <a:lnTo>
                    <a:pt x="6268466" y="2721991"/>
                  </a:lnTo>
                  <a:lnTo>
                    <a:pt x="6287516" y="2721991"/>
                  </a:lnTo>
                  <a:cubicBezTo>
                    <a:pt x="6287516" y="2761234"/>
                    <a:pt x="6255512" y="2792857"/>
                    <a:pt x="6216269" y="2792857"/>
                  </a:cubicBezTo>
                  <a:lnTo>
                    <a:pt x="6216269" y="2773807"/>
                  </a:lnTo>
                  <a:lnTo>
                    <a:pt x="6216269" y="2792857"/>
                  </a:lnTo>
                  <a:lnTo>
                    <a:pt x="71247" y="2792857"/>
                  </a:lnTo>
                  <a:lnTo>
                    <a:pt x="71247" y="2773807"/>
                  </a:lnTo>
                  <a:lnTo>
                    <a:pt x="71247" y="2792857"/>
                  </a:lnTo>
                  <a:cubicBezTo>
                    <a:pt x="32004" y="2792857"/>
                    <a:pt x="0" y="2761234"/>
                    <a:pt x="0" y="2721991"/>
                  </a:cubicBezTo>
                  <a:lnTo>
                    <a:pt x="0" y="70866"/>
                  </a:lnTo>
                  <a:lnTo>
                    <a:pt x="19050" y="70866"/>
                  </a:lnTo>
                  <a:lnTo>
                    <a:pt x="0" y="70866"/>
                  </a:lnTo>
                  <a:moveTo>
                    <a:pt x="38100" y="70866"/>
                  </a:moveTo>
                  <a:lnTo>
                    <a:pt x="38100" y="2721991"/>
                  </a:lnTo>
                  <a:lnTo>
                    <a:pt x="19050" y="2721991"/>
                  </a:lnTo>
                  <a:lnTo>
                    <a:pt x="38100" y="2721991"/>
                  </a:lnTo>
                  <a:cubicBezTo>
                    <a:pt x="38100" y="2739898"/>
                    <a:pt x="52832" y="2754757"/>
                    <a:pt x="71247" y="2754757"/>
                  </a:cubicBezTo>
                  <a:lnTo>
                    <a:pt x="6216269" y="2754757"/>
                  </a:lnTo>
                  <a:cubicBezTo>
                    <a:pt x="6234684" y="2754757"/>
                    <a:pt x="6249416" y="2740025"/>
                    <a:pt x="6249416" y="2721991"/>
                  </a:cubicBezTo>
                  <a:lnTo>
                    <a:pt x="6249416" y="70866"/>
                  </a:lnTo>
                  <a:cubicBezTo>
                    <a:pt x="6249416" y="52959"/>
                    <a:pt x="6234684" y="38100"/>
                    <a:pt x="6216269" y="38100"/>
                  </a:cubicBezTo>
                  <a:lnTo>
                    <a:pt x="71247" y="38100"/>
                  </a:lnTo>
                  <a:lnTo>
                    <a:pt x="71247" y="19050"/>
                  </a:lnTo>
                  <a:lnTo>
                    <a:pt x="71247" y="38100"/>
                  </a:lnTo>
                  <a:cubicBezTo>
                    <a:pt x="52832" y="38100"/>
                    <a:pt x="38100" y="52832"/>
                    <a:pt x="38100" y="70866"/>
                  </a:cubicBezTo>
                  <a:close/>
                </a:path>
              </a:pathLst>
            </a:custGeom>
            <a:solidFill>
              <a:srgbClr val="545557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8045798" y="3221980"/>
            <a:ext cx="3235524" cy="43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Hardware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045798" y="3828009"/>
            <a:ext cx="4112270" cy="913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Battery, RAM, Internal Memory, Weight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689979" y="2948880"/>
            <a:ext cx="4715768" cy="2094608"/>
            <a:chOff x="0" y="0"/>
            <a:chExt cx="6287690" cy="279281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19050" y="19050"/>
              <a:ext cx="6249670" cy="2754757"/>
            </a:xfrm>
            <a:custGeom>
              <a:avLst/>
              <a:gdLst/>
              <a:ahLst/>
              <a:cxnLst/>
              <a:rect r="r" b="b" t="t" l="l"/>
              <a:pathLst>
                <a:path h="2754757" w="6249670">
                  <a:moveTo>
                    <a:pt x="0" y="51816"/>
                  </a:moveTo>
                  <a:cubicBezTo>
                    <a:pt x="0" y="23114"/>
                    <a:pt x="23368" y="0"/>
                    <a:pt x="52197" y="0"/>
                  </a:cubicBezTo>
                  <a:lnTo>
                    <a:pt x="6197473" y="0"/>
                  </a:lnTo>
                  <a:cubicBezTo>
                    <a:pt x="6226302" y="0"/>
                    <a:pt x="6249670" y="23114"/>
                    <a:pt x="6249670" y="51816"/>
                  </a:cubicBezTo>
                  <a:lnTo>
                    <a:pt x="6249670" y="2702941"/>
                  </a:lnTo>
                  <a:cubicBezTo>
                    <a:pt x="6249670" y="2731516"/>
                    <a:pt x="6226302" y="2754757"/>
                    <a:pt x="6197473" y="2754757"/>
                  </a:cubicBezTo>
                  <a:lnTo>
                    <a:pt x="52197" y="2754757"/>
                  </a:lnTo>
                  <a:cubicBezTo>
                    <a:pt x="23368" y="2754757"/>
                    <a:pt x="0" y="2731643"/>
                    <a:pt x="0" y="2702941"/>
                  </a:cubicBezTo>
                  <a:close/>
                </a:path>
              </a:pathLst>
            </a:custGeom>
            <a:solidFill>
              <a:srgbClr val="1C1D1F"/>
            </a:solidFill>
          </p:spPr>
        </p:sp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287770" cy="2792857"/>
            </a:xfrm>
            <a:custGeom>
              <a:avLst/>
              <a:gdLst/>
              <a:ahLst/>
              <a:cxnLst/>
              <a:rect r="r" b="b" t="t" l="l"/>
              <a:pathLst>
                <a:path h="2792857" w="6287770">
                  <a:moveTo>
                    <a:pt x="0" y="70866"/>
                  </a:moveTo>
                  <a:cubicBezTo>
                    <a:pt x="0" y="31623"/>
                    <a:pt x="32004" y="0"/>
                    <a:pt x="71247" y="0"/>
                  </a:cubicBezTo>
                  <a:lnTo>
                    <a:pt x="6216523" y="0"/>
                  </a:lnTo>
                  <a:lnTo>
                    <a:pt x="6216523" y="19050"/>
                  </a:lnTo>
                  <a:lnTo>
                    <a:pt x="6216523" y="0"/>
                  </a:lnTo>
                  <a:cubicBezTo>
                    <a:pt x="6255766" y="0"/>
                    <a:pt x="6287770" y="31623"/>
                    <a:pt x="6287770" y="70866"/>
                  </a:cubicBezTo>
                  <a:lnTo>
                    <a:pt x="6268720" y="70866"/>
                  </a:lnTo>
                  <a:lnTo>
                    <a:pt x="6287770" y="70866"/>
                  </a:lnTo>
                  <a:lnTo>
                    <a:pt x="6287770" y="2721991"/>
                  </a:lnTo>
                  <a:lnTo>
                    <a:pt x="6268720" y="2721991"/>
                  </a:lnTo>
                  <a:lnTo>
                    <a:pt x="6287770" y="2721991"/>
                  </a:lnTo>
                  <a:cubicBezTo>
                    <a:pt x="6287770" y="2761234"/>
                    <a:pt x="6255766" y="2792857"/>
                    <a:pt x="6216523" y="2792857"/>
                  </a:cubicBezTo>
                  <a:lnTo>
                    <a:pt x="6216523" y="2773807"/>
                  </a:lnTo>
                  <a:lnTo>
                    <a:pt x="6216523" y="2792857"/>
                  </a:lnTo>
                  <a:lnTo>
                    <a:pt x="71247" y="2792857"/>
                  </a:lnTo>
                  <a:lnTo>
                    <a:pt x="71247" y="2773807"/>
                  </a:lnTo>
                  <a:lnTo>
                    <a:pt x="71247" y="2792857"/>
                  </a:lnTo>
                  <a:cubicBezTo>
                    <a:pt x="32004" y="2792857"/>
                    <a:pt x="0" y="2761234"/>
                    <a:pt x="0" y="2721991"/>
                  </a:cubicBezTo>
                  <a:lnTo>
                    <a:pt x="0" y="70866"/>
                  </a:lnTo>
                  <a:lnTo>
                    <a:pt x="19050" y="70866"/>
                  </a:lnTo>
                  <a:lnTo>
                    <a:pt x="0" y="70866"/>
                  </a:lnTo>
                  <a:moveTo>
                    <a:pt x="38100" y="70866"/>
                  </a:moveTo>
                  <a:lnTo>
                    <a:pt x="38100" y="2721991"/>
                  </a:lnTo>
                  <a:lnTo>
                    <a:pt x="19050" y="2721991"/>
                  </a:lnTo>
                  <a:lnTo>
                    <a:pt x="38100" y="2721991"/>
                  </a:lnTo>
                  <a:cubicBezTo>
                    <a:pt x="38100" y="2739898"/>
                    <a:pt x="52832" y="2754757"/>
                    <a:pt x="71247" y="2754757"/>
                  </a:cubicBezTo>
                  <a:lnTo>
                    <a:pt x="6216523" y="2754757"/>
                  </a:lnTo>
                  <a:cubicBezTo>
                    <a:pt x="6234938" y="2754757"/>
                    <a:pt x="6249670" y="2740025"/>
                    <a:pt x="6249670" y="2721991"/>
                  </a:cubicBezTo>
                  <a:lnTo>
                    <a:pt x="6249670" y="70866"/>
                  </a:lnTo>
                  <a:cubicBezTo>
                    <a:pt x="6249670" y="52959"/>
                    <a:pt x="6234938" y="38100"/>
                    <a:pt x="6216523" y="38100"/>
                  </a:cubicBezTo>
                  <a:lnTo>
                    <a:pt x="71247" y="38100"/>
                  </a:lnTo>
                  <a:lnTo>
                    <a:pt x="71247" y="19050"/>
                  </a:lnTo>
                  <a:lnTo>
                    <a:pt x="71247" y="38100"/>
                  </a:lnTo>
                  <a:cubicBezTo>
                    <a:pt x="52832" y="38100"/>
                    <a:pt x="38100" y="52832"/>
                    <a:pt x="38100" y="70866"/>
                  </a:cubicBezTo>
                  <a:close/>
                </a:path>
              </a:pathLst>
            </a:custGeom>
            <a:solidFill>
              <a:srgbClr val="545557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2991654" y="3221980"/>
            <a:ext cx="3235524" cy="43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Performance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991654" y="3828009"/>
            <a:ext cx="4112419" cy="49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Clock Speed, Cores, Talk Time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7744123" y="5273725"/>
            <a:ext cx="4715619" cy="2094607"/>
            <a:chOff x="0" y="0"/>
            <a:chExt cx="6287492" cy="279281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19050" y="19050"/>
              <a:ext cx="6249416" cy="2754757"/>
            </a:xfrm>
            <a:custGeom>
              <a:avLst/>
              <a:gdLst/>
              <a:ahLst/>
              <a:cxnLst/>
              <a:rect r="r" b="b" t="t" l="l"/>
              <a:pathLst>
                <a:path h="2754757" w="6249416">
                  <a:moveTo>
                    <a:pt x="0" y="51816"/>
                  </a:moveTo>
                  <a:cubicBezTo>
                    <a:pt x="0" y="23114"/>
                    <a:pt x="23368" y="0"/>
                    <a:pt x="52197" y="0"/>
                  </a:cubicBezTo>
                  <a:lnTo>
                    <a:pt x="6197219" y="0"/>
                  </a:lnTo>
                  <a:cubicBezTo>
                    <a:pt x="6226048" y="0"/>
                    <a:pt x="6249416" y="23114"/>
                    <a:pt x="6249416" y="51816"/>
                  </a:cubicBezTo>
                  <a:lnTo>
                    <a:pt x="6249416" y="2702941"/>
                  </a:lnTo>
                  <a:cubicBezTo>
                    <a:pt x="6249416" y="2731516"/>
                    <a:pt x="6226048" y="2754757"/>
                    <a:pt x="6197219" y="2754757"/>
                  </a:cubicBezTo>
                  <a:lnTo>
                    <a:pt x="52197" y="2754757"/>
                  </a:lnTo>
                  <a:cubicBezTo>
                    <a:pt x="23368" y="2754757"/>
                    <a:pt x="0" y="2731643"/>
                    <a:pt x="0" y="2702941"/>
                  </a:cubicBezTo>
                  <a:close/>
                </a:path>
              </a:pathLst>
            </a:custGeom>
            <a:solidFill>
              <a:srgbClr val="1C1D1F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6287516" cy="2792857"/>
            </a:xfrm>
            <a:custGeom>
              <a:avLst/>
              <a:gdLst/>
              <a:ahLst/>
              <a:cxnLst/>
              <a:rect r="r" b="b" t="t" l="l"/>
              <a:pathLst>
                <a:path h="2792857" w="6287516">
                  <a:moveTo>
                    <a:pt x="0" y="70866"/>
                  </a:moveTo>
                  <a:cubicBezTo>
                    <a:pt x="0" y="31623"/>
                    <a:pt x="32004" y="0"/>
                    <a:pt x="71247" y="0"/>
                  </a:cubicBezTo>
                  <a:lnTo>
                    <a:pt x="6216269" y="0"/>
                  </a:lnTo>
                  <a:lnTo>
                    <a:pt x="6216269" y="19050"/>
                  </a:lnTo>
                  <a:lnTo>
                    <a:pt x="6216269" y="0"/>
                  </a:lnTo>
                  <a:cubicBezTo>
                    <a:pt x="6255512" y="0"/>
                    <a:pt x="6287516" y="31623"/>
                    <a:pt x="6287516" y="70866"/>
                  </a:cubicBezTo>
                  <a:lnTo>
                    <a:pt x="6268466" y="70866"/>
                  </a:lnTo>
                  <a:lnTo>
                    <a:pt x="6287516" y="70866"/>
                  </a:lnTo>
                  <a:lnTo>
                    <a:pt x="6287516" y="2721991"/>
                  </a:lnTo>
                  <a:lnTo>
                    <a:pt x="6268466" y="2721991"/>
                  </a:lnTo>
                  <a:lnTo>
                    <a:pt x="6287516" y="2721991"/>
                  </a:lnTo>
                  <a:cubicBezTo>
                    <a:pt x="6287516" y="2761234"/>
                    <a:pt x="6255512" y="2792857"/>
                    <a:pt x="6216269" y="2792857"/>
                  </a:cubicBezTo>
                  <a:lnTo>
                    <a:pt x="6216269" y="2773807"/>
                  </a:lnTo>
                  <a:lnTo>
                    <a:pt x="6216269" y="2792857"/>
                  </a:lnTo>
                  <a:lnTo>
                    <a:pt x="71247" y="2792857"/>
                  </a:lnTo>
                  <a:lnTo>
                    <a:pt x="71247" y="2773807"/>
                  </a:lnTo>
                  <a:lnTo>
                    <a:pt x="71247" y="2792857"/>
                  </a:lnTo>
                  <a:cubicBezTo>
                    <a:pt x="32004" y="2792857"/>
                    <a:pt x="0" y="2761234"/>
                    <a:pt x="0" y="2721991"/>
                  </a:cubicBezTo>
                  <a:lnTo>
                    <a:pt x="0" y="70866"/>
                  </a:lnTo>
                  <a:lnTo>
                    <a:pt x="19050" y="70866"/>
                  </a:lnTo>
                  <a:lnTo>
                    <a:pt x="0" y="70866"/>
                  </a:lnTo>
                  <a:moveTo>
                    <a:pt x="38100" y="70866"/>
                  </a:moveTo>
                  <a:lnTo>
                    <a:pt x="38100" y="2721991"/>
                  </a:lnTo>
                  <a:lnTo>
                    <a:pt x="19050" y="2721991"/>
                  </a:lnTo>
                  <a:lnTo>
                    <a:pt x="38100" y="2721991"/>
                  </a:lnTo>
                  <a:cubicBezTo>
                    <a:pt x="38100" y="2739898"/>
                    <a:pt x="52832" y="2754757"/>
                    <a:pt x="71247" y="2754757"/>
                  </a:cubicBezTo>
                  <a:lnTo>
                    <a:pt x="6216269" y="2754757"/>
                  </a:lnTo>
                  <a:cubicBezTo>
                    <a:pt x="6234684" y="2754757"/>
                    <a:pt x="6249416" y="2740025"/>
                    <a:pt x="6249416" y="2721991"/>
                  </a:cubicBezTo>
                  <a:lnTo>
                    <a:pt x="6249416" y="70866"/>
                  </a:lnTo>
                  <a:cubicBezTo>
                    <a:pt x="6249416" y="52959"/>
                    <a:pt x="6234684" y="38100"/>
                    <a:pt x="6216269" y="38100"/>
                  </a:cubicBezTo>
                  <a:lnTo>
                    <a:pt x="71247" y="38100"/>
                  </a:lnTo>
                  <a:lnTo>
                    <a:pt x="71247" y="19050"/>
                  </a:lnTo>
                  <a:lnTo>
                    <a:pt x="71247" y="38100"/>
                  </a:lnTo>
                  <a:cubicBezTo>
                    <a:pt x="52832" y="38100"/>
                    <a:pt x="38100" y="52832"/>
                    <a:pt x="38100" y="70866"/>
                  </a:cubicBezTo>
                  <a:close/>
                </a:path>
              </a:pathLst>
            </a:custGeom>
            <a:solidFill>
              <a:srgbClr val="545557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8045798" y="5546824"/>
            <a:ext cx="3235524" cy="43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Camera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045798" y="6152852"/>
            <a:ext cx="4112270" cy="913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Primary Camera (MP), Front Camera (MP)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12689979" y="5273725"/>
            <a:ext cx="4715768" cy="2094607"/>
            <a:chOff x="0" y="0"/>
            <a:chExt cx="6287690" cy="2792810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19050" y="19050"/>
              <a:ext cx="6249670" cy="2754757"/>
            </a:xfrm>
            <a:custGeom>
              <a:avLst/>
              <a:gdLst/>
              <a:ahLst/>
              <a:cxnLst/>
              <a:rect r="r" b="b" t="t" l="l"/>
              <a:pathLst>
                <a:path h="2754757" w="6249670">
                  <a:moveTo>
                    <a:pt x="0" y="51816"/>
                  </a:moveTo>
                  <a:cubicBezTo>
                    <a:pt x="0" y="23114"/>
                    <a:pt x="23368" y="0"/>
                    <a:pt x="52197" y="0"/>
                  </a:cubicBezTo>
                  <a:lnTo>
                    <a:pt x="6197473" y="0"/>
                  </a:lnTo>
                  <a:cubicBezTo>
                    <a:pt x="6226302" y="0"/>
                    <a:pt x="6249670" y="23114"/>
                    <a:pt x="6249670" y="51816"/>
                  </a:cubicBezTo>
                  <a:lnTo>
                    <a:pt x="6249670" y="2702941"/>
                  </a:lnTo>
                  <a:cubicBezTo>
                    <a:pt x="6249670" y="2731516"/>
                    <a:pt x="6226302" y="2754757"/>
                    <a:pt x="6197473" y="2754757"/>
                  </a:cubicBezTo>
                  <a:lnTo>
                    <a:pt x="52197" y="2754757"/>
                  </a:lnTo>
                  <a:cubicBezTo>
                    <a:pt x="23368" y="2754757"/>
                    <a:pt x="0" y="2731643"/>
                    <a:pt x="0" y="2702941"/>
                  </a:cubicBezTo>
                  <a:close/>
                </a:path>
              </a:pathLst>
            </a:custGeom>
            <a:solidFill>
              <a:srgbClr val="1C1D1F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6287770" cy="2792857"/>
            </a:xfrm>
            <a:custGeom>
              <a:avLst/>
              <a:gdLst/>
              <a:ahLst/>
              <a:cxnLst/>
              <a:rect r="r" b="b" t="t" l="l"/>
              <a:pathLst>
                <a:path h="2792857" w="6287770">
                  <a:moveTo>
                    <a:pt x="0" y="70866"/>
                  </a:moveTo>
                  <a:cubicBezTo>
                    <a:pt x="0" y="31623"/>
                    <a:pt x="32004" y="0"/>
                    <a:pt x="71247" y="0"/>
                  </a:cubicBezTo>
                  <a:lnTo>
                    <a:pt x="6216523" y="0"/>
                  </a:lnTo>
                  <a:lnTo>
                    <a:pt x="6216523" y="19050"/>
                  </a:lnTo>
                  <a:lnTo>
                    <a:pt x="6216523" y="0"/>
                  </a:lnTo>
                  <a:cubicBezTo>
                    <a:pt x="6255766" y="0"/>
                    <a:pt x="6287770" y="31623"/>
                    <a:pt x="6287770" y="70866"/>
                  </a:cubicBezTo>
                  <a:lnTo>
                    <a:pt x="6268720" y="70866"/>
                  </a:lnTo>
                  <a:lnTo>
                    <a:pt x="6287770" y="70866"/>
                  </a:lnTo>
                  <a:lnTo>
                    <a:pt x="6287770" y="2721991"/>
                  </a:lnTo>
                  <a:lnTo>
                    <a:pt x="6268720" y="2721991"/>
                  </a:lnTo>
                  <a:lnTo>
                    <a:pt x="6287770" y="2721991"/>
                  </a:lnTo>
                  <a:cubicBezTo>
                    <a:pt x="6287770" y="2761234"/>
                    <a:pt x="6255766" y="2792857"/>
                    <a:pt x="6216523" y="2792857"/>
                  </a:cubicBezTo>
                  <a:lnTo>
                    <a:pt x="6216523" y="2773807"/>
                  </a:lnTo>
                  <a:lnTo>
                    <a:pt x="6216523" y="2792857"/>
                  </a:lnTo>
                  <a:lnTo>
                    <a:pt x="71247" y="2792857"/>
                  </a:lnTo>
                  <a:lnTo>
                    <a:pt x="71247" y="2773807"/>
                  </a:lnTo>
                  <a:lnTo>
                    <a:pt x="71247" y="2792857"/>
                  </a:lnTo>
                  <a:cubicBezTo>
                    <a:pt x="32004" y="2792857"/>
                    <a:pt x="0" y="2761234"/>
                    <a:pt x="0" y="2721991"/>
                  </a:cubicBezTo>
                  <a:lnTo>
                    <a:pt x="0" y="70866"/>
                  </a:lnTo>
                  <a:lnTo>
                    <a:pt x="19050" y="70866"/>
                  </a:lnTo>
                  <a:lnTo>
                    <a:pt x="0" y="70866"/>
                  </a:lnTo>
                  <a:moveTo>
                    <a:pt x="38100" y="70866"/>
                  </a:moveTo>
                  <a:lnTo>
                    <a:pt x="38100" y="2721991"/>
                  </a:lnTo>
                  <a:lnTo>
                    <a:pt x="19050" y="2721991"/>
                  </a:lnTo>
                  <a:lnTo>
                    <a:pt x="38100" y="2721991"/>
                  </a:lnTo>
                  <a:cubicBezTo>
                    <a:pt x="38100" y="2739898"/>
                    <a:pt x="52832" y="2754757"/>
                    <a:pt x="71247" y="2754757"/>
                  </a:cubicBezTo>
                  <a:lnTo>
                    <a:pt x="6216523" y="2754757"/>
                  </a:lnTo>
                  <a:cubicBezTo>
                    <a:pt x="6234938" y="2754757"/>
                    <a:pt x="6249670" y="2740025"/>
                    <a:pt x="6249670" y="2721991"/>
                  </a:cubicBezTo>
                  <a:lnTo>
                    <a:pt x="6249670" y="70866"/>
                  </a:lnTo>
                  <a:cubicBezTo>
                    <a:pt x="6249670" y="52959"/>
                    <a:pt x="6234938" y="38100"/>
                    <a:pt x="6216523" y="38100"/>
                  </a:cubicBezTo>
                  <a:lnTo>
                    <a:pt x="71247" y="38100"/>
                  </a:lnTo>
                  <a:lnTo>
                    <a:pt x="71247" y="19050"/>
                  </a:lnTo>
                  <a:lnTo>
                    <a:pt x="71247" y="38100"/>
                  </a:lnTo>
                  <a:cubicBezTo>
                    <a:pt x="52832" y="38100"/>
                    <a:pt x="38100" y="52832"/>
                    <a:pt x="38100" y="70866"/>
                  </a:cubicBezTo>
                  <a:close/>
                </a:path>
              </a:pathLst>
            </a:custGeom>
            <a:solidFill>
              <a:srgbClr val="545557"/>
            </a:solid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12991654" y="5546824"/>
            <a:ext cx="3235524" cy="43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Display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991654" y="6152852"/>
            <a:ext cx="4112419" cy="9138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Screen Resolution, Physical Size, Screen Depth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744123" y="7598569"/>
            <a:ext cx="9661624" cy="1680568"/>
            <a:chOff x="0" y="0"/>
            <a:chExt cx="12882165" cy="224075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19050" y="19050"/>
              <a:ext cx="12844018" cy="2202688"/>
            </a:xfrm>
            <a:custGeom>
              <a:avLst/>
              <a:gdLst/>
              <a:ahLst/>
              <a:cxnLst/>
              <a:rect r="r" b="b" t="t" l="l"/>
              <a:pathLst>
                <a:path h="2202688" w="12844018">
                  <a:moveTo>
                    <a:pt x="0" y="51816"/>
                  </a:moveTo>
                  <a:cubicBezTo>
                    <a:pt x="0" y="23114"/>
                    <a:pt x="23495" y="0"/>
                    <a:pt x="52451" y="0"/>
                  </a:cubicBezTo>
                  <a:lnTo>
                    <a:pt x="12791567" y="0"/>
                  </a:lnTo>
                  <a:cubicBezTo>
                    <a:pt x="12820524" y="0"/>
                    <a:pt x="12844018" y="23114"/>
                    <a:pt x="12844018" y="51816"/>
                  </a:cubicBezTo>
                  <a:lnTo>
                    <a:pt x="12844018" y="2150872"/>
                  </a:lnTo>
                  <a:cubicBezTo>
                    <a:pt x="12844018" y="2179447"/>
                    <a:pt x="12820524" y="2202688"/>
                    <a:pt x="12791567" y="2202688"/>
                  </a:cubicBezTo>
                  <a:lnTo>
                    <a:pt x="52451" y="2202688"/>
                  </a:lnTo>
                  <a:cubicBezTo>
                    <a:pt x="23495" y="2202688"/>
                    <a:pt x="0" y="2179574"/>
                    <a:pt x="0" y="2150872"/>
                  </a:cubicBezTo>
                  <a:close/>
                </a:path>
              </a:pathLst>
            </a:custGeom>
            <a:solidFill>
              <a:srgbClr val="1C1D1F"/>
            </a:solidFill>
          </p:spPr>
        </p:sp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2882118" cy="2240788"/>
            </a:xfrm>
            <a:custGeom>
              <a:avLst/>
              <a:gdLst/>
              <a:ahLst/>
              <a:cxnLst/>
              <a:rect r="r" b="b" t="t" l="l"/>
              <a:pathLst>
                <a:path h="2240788" w="12882118">
                  <a:moveTo>
                    <a:pt x="0" y="70866"/>
                  </a:moveTo>
                  <a:cubicBezTo>
                    <a:pt x="0" y="31496"/>
                    <a:pt x="32258" y="0"/>
                    <a:pt x="71501" y="0"/>
                  </a:cubicBezTo>
                  <a:lnTo>
                    <a:pt x="12810617" y="0"/>
                  </a:lnTo>
                  <a:lnTo>
                    <a:pt x="12810617" y="19050"/>
                  </a:lnTo>
                  <a:lnTo>
                    <a:pt x="12810617" y="0"/>
                  </a:lnTo>
                  <a:cubicBezTo>
                    <a:pt x="12849861" y="0"/>
                    <a:pt x="12882118" y="31496"/>
                    <a:pt x="12882118" y="70866"/>
                  </a:cubicBezTo>
                  <a:lnTo>
                    <a:pt x="12863068" y="70866"/>
                  </a:lnTo>
                  <a:lnTo>
                    <a:pt x="12882118" y="70866"/>
                  </a:lnTo>
                  <a:lnTo>
                    <a:pt x="12882118" y="2169922"/>
                  </a:lnTo>
                  <a:lnTo>
                    <a:pt x="12863068" y="2169922"/>
                  </a:lnTo>
                  <a:lnTo>
                    <a:pt x="12882118" y="2169922"/>
                  </a:lnTo>
                  <a:cubicBezTo>
                    <a:pt x="12882118" y="2209292"/>
                    <a:pt x="12849861" y="2240788"/>
                    <a:pt x="12810617" y="2240788"/>
                  </a:cubicBezTo>
                  <a:lnTo>
                    <a:pt x="12810617" y="2221738"/>
                  </a:lnTo>
                  <a:lnTo>
                    <a:pt x="12810617" y="2240788"/>
                  </a:lnTo>
                  <a:lnTo>
                    <a:pt x="71501" y="2240788"/>
                  </a:lnTo>
                  <a:lnTo>
                    <a:pt x="71501" y="2221738"/>
                  </a:lnTo>
                  <a:lnTo>
                    <a:pt x="71501" y="2240788"/>
                  </a:lnTo>
                  <a:cubicBezTo>
                    <a:pt x="32258" y="2240788"/>
                    <a:pt x="0" y="2209292"/>
                    <a:pt x="0" y="2169922"/>
                  </a:cubicBezTo>
                  <a:lnTo>
                    <a:pt x="0" y="70866"/>
                  </a:lnTo>
                  <a:lnTo>
                    <a:pt x="19050" y="70866"/>
                  </a:lnTo>
                  <a:lnTo>
                    <a:pt x="0" y="70866"/>
                  </a:lnTo>
                  <a:moveTo>
                    <a:pt x="38100" y="70866"/>
                  </a:moveTo>
                  <a:lnTo>
                    <a:pt x="38100" y="2169922"/>
                  </a:lnTo>
                  <a:lnTo>
                    <a:pt x="19050" y="2169922"/>
                  </a:lnTo>
                  <a:lnTo>
                    <a:pt x="38100" y="2169922"/>
                  </a:lnTo>
                  <a:cubicBezTo>
                    <a:pt x="38100" y="2187702"/>
                    <a:pt x="52832" y="2202688"/>
                    <a:pt x="71501" y="2202688"/>
                  </a:cubicBezTo>
                  <a:lnTo>
                    <a:pt x="12810617" y="2202688"/>
                  </a:lnTo>
                  <a:cubicBezTo>
                    <a:pt x="12829287" y="2202688"/>
                    <a:pt x="12844018" y="2187829"/>
                    <a:pt x="12844018" y="2169922"/>
                  </a:cubicBezTo>
                  <a:lnTo>
                    <a:pt x="12844018" y="70866"/>
                  </a:lnTo>
                  <a:cubicBezTo>
                    <a:pt x="12844018" y="53086"/>
                    <a:pt x="12829287" y="38100"/>
                    <a:pt x="12810617" y="38100"/>
                  </a:cubicBezTo>
                  <a:lnTo>
                    <a:pt x="71501" y="38100"/>
                  </a:lnTo>
                  <a:lnTo>
                    <a:pt x="71501" y="19050"/>
                  </a:lnTo>
                  <a:lnTo>
                    <a:pt x="71501" y="38100"/>
                  </a:lnTo>
                  <a:cubicBezTo>
                    <a:pt x="52832" y="38100"/>
                    <a:pt x="38100" y="52959"/>
                    <a:pt x="38100" y="70866"/>
                  </a:cubicBezTo>
                  <a:close/>
                </a:path>
              </a:pathLst>
            </a:custGeom>
            <a:solidFill>
              <a:srgbClr val="545557"/>
            </a:solidFill>
          </p:spPr>
        </p:sp>
      </p:grpSp>
      <p:sp>
        <p:nvSpPr>
          <p:cNvPr name="TextBox 41" id="41"/>
          <p:cNvSpPr txBox="true"/>
          <p:nvPr/>
        </p:nvSpPr>
        <p:spPr>
          <a:xfrm rot="0">
            <a:off x="8045798" y="7871669"/>
            <a:ext cx="3235524" cy="432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Connectivity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8045798" y="8477696"/>
            <a:ext cx="9058275" cy="499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0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Bluetooth, 4G, 3G, WiFi, Dual SIM, Touch Screen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83343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521196" y="371475"/>
            <a:ext cx="9143851" cy="627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85"/>
              </a:lnSpc>
            </a:pPr>
            <a:r>
              <a:rPr lang="en-US" sz="3874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Neural Network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21196" y="1077516"/>
            <a:ext cx="17245608" cy="41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124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5-Layer Deep Neural Network optimized for price classification</a:t>
            </a:r>
          </a:p>
        </p:txBody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744439" y="2099667"/>
            <a:ext cx="446782" cy="1428750"/>
            <a:chOff x="0" y="0"/>
            <a:chExt cx="595710" cy="1905000"/>
          </a:xfrm>
        </p:grpSpPr>
        <p:sp>
          <p:nvSpPr>
            <p:cNvPr name="Freeform 9" id="9" descr="preencoded.png"/>
            <p:cNvSpPr/>
            <p:nvPr/>
          </p:nvSpPr>
          <p:spPr>
            <a:xfrm flipH="false" flipV="false" rot="0">
              <a:off x="0" y="0"/>
              <a:ext cx="595757" cy="1905000"/>
            </a:xfrm>
            <a:custGeom>
              <a:avLst/>
              <a:gdLst/>
              <a:ahLst/>
              <a:cxnLst/>
              <a:rect r="r" b="b" t="t" l="l"/>
              <a:pathLst>
                <a:path h="1905000" w="595757">
                  <a:moveTo>
                    <a:pt x="0" y="0"/>
                  </a:moveTo>
                  <a:lnTo>
                    <a:pt x="595757" y="0"/>
                  </a:lnTo>
                  <a:lnTo>
                    <a:pt x="595757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9" t="0" r="-91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340049" y="2229444"/>
            <a:ext cx="1861691" cy="381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43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Input Layer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40049" y="2475161"/>
            <a:ext cx="16649997" cy="41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124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20 features → Batch Normalization</a:t>
            </a:r>
          </a:p>
        </p:txBody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967830" y="3142059"/>
            <a:ext cx="446783" cy="1428750"/>
            <a:chOff x="0" y="0"/>
            <a:chExt cx="595710" cy="1905000"/>
          </a:xfrm>
        </p:grpSpPr>
        <p:sp>
          <p:nvSpPr>
            <p:cNvPr name="Freeform 13" id="13" descr="preencoded.png"/>
            <p:cNvSpPr/>
            <p:nvPr/>
          </p:nvSpPr>
          <p:spPr>
            <a:xfrm flipH="false" flipV="false" rot="0">
              <a:off x="0" y="0"/>
              <a:ext cx="595757" cy="1905000"/>
            </a:xfrm>
            <a:custGeom>
              <a:avLst/>
              <a:gdLst/>
              <a:ahLst/>
              <a:cxnLst/>
              <a:rect r="r" b="b" t="t" l="l"/>
              <a:pathLst>
                <a:path h="1905000" w="595757">
                  <a:moveTo>
                    <a:pt x="0" y="0"/>
                  </a:moveTo>
                  <a:lnTo>
                    <a:pt x="595757" y="0"/>
                  </a:lnTo>
                  <a:lnTo>
                    <a:pt x="595757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9" t="0" r="-91" b="0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1563440" y="3271837"/>
            <a:ext cx="3768438" cy="381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43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Hidden Layer 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63440" y="3517552"/>
            <a:ext cx="16426606" cy="41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124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512 neurons + ReLU + Dropout (0.2)</a:t>
            </a:r>
          </a:p>
        </p:txBody>
      </p: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1191221" y="4184451"/>
            <a:ext cx="446783" cy="1428750"/>
            <a:chOff x="0" y="0"/>
            <a:chExt cx="595710" cy="1905000"/>
          </a:xfrm>
        </p:grpSpPr>
        <p:sp>
          <p:nvSpPr>
            <p:cNvPr name="Freeform 17" id="17" descr="preencoded.png"/>
            <p:cNvSpPr/>
            <p:nvPr/>
          </p:nvSpPr>
          <p:spPr>
            <a:xfrm flipH="false" flipV="false" rot="0">
              <a:off x="0" y="0"/>
              <a:ext cx="595757" cy="1905000"/>
            </a:xfrm>
            <a:custGeom>
              <a:avLst/>
              <a:gdLst/>
              <a:ahLst/>
              <a:cxnLst/>
              <a:rect r="r" b="b" t="t" l="l"/>
              <a:pathLst>
                <a:path h="1905000" w="595757">
                  <a:moveTo>
                    <a:pt x="0" y="0"/>
                  </a:moveTo>
                  <a:lnTo>
                    <a:pt x="595757" y="0"/>
                  </a:lnTo>
                  <a:lnTo>
                    <a:pt x="595757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9" t="0" r="-91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786831" y="4314229"/>
            <a:ext cx="5533945" cy="381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43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Hidden Layer 2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2084784" y="5960268"/>
            <a:ext cx="16203216" cy="41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124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256 neurons + ReLU + Dropout (0.3)</a:t>
            </a:r>
          </a:p>
        </p:txBody>
      </p:sp>
      <p:grpSp>
        <p:nvGrpSpPr>
          <p:cNvPr name="Group 20" id="20"/>
          <p:cNvGrpSpPr>
            <a:grpSpLocks noChangeAspect="true"/>
          </p:cNvGrpSpPr>
          <p:nvPr/>
        </p:nvGrpSpPr>
        <p:grpSpPr>
          <a:xfrm rot="0">
            <a:off x="1414611" y="5226843"/>
            <a:ext cx="446783" cy="1428750"/>
            <a:chOff x="0" y="0"/>
            <a:chExt cx="595710" cy="1905000"/>
          </a:xfrm>
        </p:grpSpPr>
        <p:sp>
          <p:nvSpPr>
            <p:cNvPr name="Freeform 21" id="21" descr="preencoded.png"/>
            <p:cNvSpPr/>
            <p:nvPr/>
          </p:nvSpPr>
          <p:spPr>
            <a:xfrm flipH="false" flipV="false" rot="0">
              <a:off x="0" y="0"/>
              <a:ext cx="595757" cy="1905000"/>
            </a:xfrm>
            <a:custGeom>
              <a:avLst/>
              <a:gdLst/>
              <a:ahLst/>
              <a:cxnLst/>
              <a:rect r="r" b="b" t="t" l="l"/>
              <a:pathLst>
                <a:path h="1905000" w="595757">
                  <a:moveTo>
                    <a:pt x="0" y="0"/>
                  </a:moveTo>
                  <a:lnTo>
                    <a:pt x="595757" y="0"/>
                  </a:lnTo>
                  <a:lnTo>
                    <a:pt x="595757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9" t="0" r="-91" b="0"/>
              </a:stretch>
            </a:blip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2010221" y="5356622"/>
            <a:ext cx="4239240" cy="381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43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Hidden Layer 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10221" y="5602337"/>
            <a:ext cx="15979825" cy="41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124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128 neurons + ReLU + Dropout (0.3)</a:t>
            </a:r>
          </a:p>
        </p:txBody>
      </p:sp>
      <p:grpSp>
        <p:nvGrpSpPr>
          <p:cNvPr name="Group 24" id="24"/>
          <p:cNvGrpSpPr>
            <a:grpSpLocks noChangeAspect="true"/>
          </p:cNvGrpSpPr>
          <p:nvPr/>
        </p:nvGrpSpPr>
        <p:grpSpPr>
          <a:xfrm rot="0">
            <a:off x="1191221" y="6269236"/>
            <a:ext cx="446783" cy="1428750"/>
            <a:chOff x="0" y="0"/>
            <a:chExt cx="595710" cy="1905000"/>
          </a:xfrm>
        </p:grpSpPr>
        <p:sp>
          <p:nvSpPr>
            <p:cNvPr name="Freeform 25" id="25" descr="preencoded.png"/>
            <p:cNvSpPr/>
            <p:nvPr/>
          </p:nvSpPr>
          <p:spPr>
            <a:xfrm flipH="false" flipV="false" rot="0">
              <a:off x="0" y="0"/>
              <a:ext cx="595757" cy="1905000"/>
            </a:xfrm>
            <a:custGeom>
              <a:avLst/>
              <a:gdLst/>
              <a:ahLst/>
              <a:cxnLst/>
              <a:rect r="r" b="b" t="t" l="l"/>
              <a:pathLst>
                <a:path h="1905000" w="595757">
                  <a:moveTo>
                    <a:pt x="0" y="0"/>
                  </a:moveTo>
                  <a:lnTo>
                    <a:pt x="595757" y="0"/>
                  </a:lnTo>
                  <a:lnTo>
                    <a:pt x="595757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9" t="0" r="-91" b="0"/>
              </a:stretch>
            </a:blip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1786831" y="6399013"/>
            <a:ext cx="5792886" cy="381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43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Hidden Layer 4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898526" y="4679479"/>
            <a:ext cx="16203216" cy="41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124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64 neurons + ReLU + Dropout (0.2)</a:t>
            </a:r>
          </a:p>
        </p:txBody>
      </p:sp>
      <p:grpSp>
        <p:nvGrpSpPr>
          <p:cNvPr name="Group 28" id="28"/>
          <p:cNvGrpSpPr>
            <a:grpSpLocks noChangeAspect="true"/>
          </p:cNvGrpSpPr>
          <p:nvPr/>
        </p:nvGrpSpPr>
        <p:grpSpPr>
          <a:xfrm rot="0">
            <a:off x="967830" y="7311628"/>
            <a:ext cx="446783" cy="1428750"/>
            <a:chOff x="0" y="0"/>
            <a:chExt cx="595710" cy="1905000"/>
          </a:xfrm>
        </p:grpSpPr>
        <p:sp>
          <p:nvSpPr>
            <p:cNvPr name="Freeform 29" id="29" descr="preencoded.png"/>
            <p:cNvSpPr/>
            <p:nvPr/>
          </p:nvSpPr>
          <p:spPr>
            <a:xfrm flipH="false" flipV="false" rot="0">
              <a:off x="0" y="0"/>
              <a:ext cx="595757" cy="1905000"/>
            </a:xfrm>
            <a:custGeom>
              <a:avLst/>
              <a:gdLst/>
              <a:ahLst/>
              <a:cxnLst/>
              <a:rect r="r" b="b" t="t" l="l"/>
              <a:pathLst>
                <a:path h="1905000" w="595757">
                  <a:moveTo>
                    <a:pt x="0" y="0"/>
                  </a:moveTo>
                  <a:lnTo>
                    <a:pt x="595757" y="0"/>
                  </a:lnTo>
                  <a:lnTo>
                    <a:pt x="595757" y="1905000"/>
                  </a:lnTo>
                  <a:lnTo>
                    <a:pt x="0" y="1905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99" t="0" r="-91" b="0"/>
              </a:stretch>
            </a:blip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1563440" y="7441406"/>
            <a:ext cx="1861691" cy="7622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3"/>
              </a:lnSpc>
            </a:pPr>
            <a:r>
              <a:rPr lang="en-US" sz="243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Output Layer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61394" y="6717357"/>
            <a:ext cx="16426606" cy="4169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124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4 neurons (Softmax classification)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8284143" y="2086522"/>
            <a:ext cx="5298009" cy="449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49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Training Configuration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8284143" y="2565817"/>
            <a:ext cx="8441234" cy="43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3" indent="-160236" lvl="1">
              <a:lnSpc>
                <a:spcPts val="3541"/>
              </a:lnSpc>
              <a:buFont typeface="Arial"/>
              <a:buChar char="•"/>
            </a:pPr>
            <a:r>
              <a:rPr lang="en-US" b="true" sz="2124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Optimizer:</a:t>
            </a:r>
            <a:r>
              <a:rPr lang="en-US" sz="2124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Adam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8284143" y="2856180"/>
            <a:ext cx="8441234" cy="43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3" indent="-160236" lvl="1">
              <a:lnSpc>
                <a:spcPts val="3541"/>
              </a:lnSpc>
              <a:buFont typeface="Arial"/>
              <a:buChar char="•"/>
            </a:pPr>
            <a:r>
              <a:rPr lang="en-US" b="true" sz="2124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Loss Function:</a:t>
            </a:r>
            <a:r>
              <a:rPr lang="en-US" sz="2124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Cross Entropy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8284143" y="3146544"/>
            <a:ext cx="8441234" cy="43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3" indent="-160236" lvl="1">
              <a:lnSpc>
                <a:spcPts val="3541"/>
              </a:lnSpc>
              <a:buFont typeface="Arial"/>
              <a:buChar char="•"/>
            </a:pPr>
            <a:r>
              <a:rPr lang="en-US" b="true" sz="2124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Epochs:</a:t>
            </a:r>
            <a:r>
              <a:rPr lang="en-US" sz="2124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100+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284143" y="3436908"/>
            <a:ext cx="8441234" cy="43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3" indent="-160236" lvl="1">
              <a:lnSpc>
                <a:spcPts val="3541"/>
              </a:lnSpc>
              <a:buFont typeface="Arial"/>
              <a:buChar char="•"/>
            </a:pPr>
            <a:r>
              <a:rPr lang="en-US" b="true" sz="2124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Batch Size:</a:t>
            </a:r>
            <a:r>
              <a:rPr lang="en-US" sz="2124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32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8284143" y="3727272"/>
            <a:ext cx="8441234" cy="43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0473" indent="-160236" lvl="1">
              <a:lnSpc>
                <a:spcPts val="3541"/>
              </a:lnSpc>
              <a:buFont typeface="Arial"/>
              <a:buChar char="•"/>
            </a:pPr>
            <a:r>
              <a:rPr lang="en-US" b="true" sz="2124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Learning Rate:</a:t>
            </a:r>
            <a:r>
              <a:rPr lang="en-US" sz="2124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0.001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7999065" y="4359325"/>
            <a:ext cx="8441234" cy="1060697"/>
            <a:chOff x="0" y="0"/>
            <a:chExt cx="11254978" cy="1414263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1254994" cy="1414272"/>
            </a:xfrm>
            <a:custGeom>
              <a:avLst/>
              <a:gdLst/>
              <a:ahLst/>
              <a:cxnLst/>
              <a:rect r="r" b="b" t="t" l="l"/>
              <a:pathLst>
                <a:path h="1414272" w="11254994">
                  <a:moveTo>
                    <a:pt x="0" y="29845"/>
                  </a:moveTo>
                  <a:cubicBezTo>
                    <a:pt x="0" y="13335"/>
                    <a:pt x="13335" y="0"/>
                    <a:pt x="29845" y="0"/>
                  </a:cubicBezTo>
                  <a:lnTo>
                    <a:pt x="11225149" y="0"/>
                  </a:lnTo>
                  <a:cubicBezTo>
                    <a:pt x="11241659" y="0"/>
                    <a:pt x="11254994" y="13335"/>
                    <a:pt x="11254994" y="29845"/>
                  </a:cubicBezTo>
                  <a:lnTo>
                    <a:pt x="11254994" y="1384427"/>
                  </a:lnTo>
                  <a:cubicBezTo>
                    <a:pt x="11254994" y="1400937"/>
                    <a:pt x="11241659" y="1414272"/>
                    <a:pt x="11225149" y="1414272"/>
                  </a:cubicBezTo>
                  <a:lnTo>
                    <a:pt x="29845" y="1414272"/>
                  </a:lnTo>
                  <a:cubicBezTo>
                    <a:pt x="13335" y="1414272"/>
                    <a:pt x="0" y="1400937"/>
                    <a:pt x="0" y="1384427"/>
                  </a:cubicBezTo>
                  <a:close/>
                </a:path>
              </a:pathLst>
            </a:custGeom>
            <a:solidFill>
              <a:srgbClr val="2A2C20"/>
            </a:solidFill>
          </p:spPr>
        </p:sp>
      </p:grpSp>
      <p:grpSp>
        <p:nvGrpSpPr>
          <p:cNvPr name="Group 40" id="40"/>
          <p:cNvGrpSpPr>
            <a:grpSpLocks noChangeAspect="true"/>
          </p:cNvGrpSpPr>
          <p:nvPr/>
        </p:nvGrpSpPr>
        <p:grpSpPr>
          <a:xfrm rot="0">
            <a:off x="15119137" y="3576788"/>
            <a:ext cx="279201" cy="223391"/>
            <a:chOff x="0" y="0"/>
            <a:chExt cx="372268" cy="297855"/>
          </a:xfrm>
        </p:grpSpPr>
        <p:sp>
          <p:nvSpPr>
            <p:cNvPr name="Freeform 41" id="41" descr="preencoded.png"/>
            <p:cNvSpPr/>
            <p:nvPr/>
          </p:nvSpPr>
          <p:spPr>
            <a:xfrm flipH="false" flipV="false" rot="0">
              <a:off x="0" y="0"/>
              <a:ext cx="372237" cy="297815"/>
            </a:xfrm>
            <a:custGeom>
              <a:avLst/>
              <a:gdLst/>
              <a:ahLst/>
              <a:cxnLst/>
              <a:rect r="r" b="b" t="t" l="l"/>
              <a:pathLst>
                <a:path h="297815" w="372237">
                  <a:moveTo>
                    <a:pt x="0" y="0"/>
                  </a:moveTo>
                  <a:lnTo>
                    <a:pt x="372237" y="0"/>
                  </a:lnTo>
                  <a:lnTo>
                    <a:pt x="372237" y="297815"/>
                  </a:lnTo>
                  <a:lnTo>
                    <a:pt x="0" y="29781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41" t="0" r="-450" b="-13"/>
              </a:stretch>
            </a:blipFill>
          </p:spPr>
        </p:sp>
      </p:grpSp>
      <p:sp>
        <p:nvSpPr>
          <p:cNvPr name="TextBox 42" id="42"/>
          <p:cNvSpPr txBox="true"/>
          <p:nvPr/>
        </p:nvSpPr>
        <p:spPr>
          <a:xfrm rot="0">
            <a:off x="8575924" y="4507260"/>
            <a:ext cx="2233910" cy="4492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49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Result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8575924" y="4878139"/>
            <a:ext cx="7715547" cy="432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41"/>
              </a:lnSpc>
            </a:pPr>
            <a:r>
              <a:rPr lang="en-US" sz="2124" b="true">
                <a:solidFill>
                  <a:srgbClr val="9FA582"/>
                </a:solidFill>
                <a:latin typeface="Bitter Bold"/>
                <a:ea typeface="Bitter Bold"/>
                <a:cs typeface="Bitter Bold"/>
                <a:sym typeface="Bitter Bold"/>
              </a:rPr>
              <a:t>99% accuracy</a:t>
            </a:r>
            <a:r>
              <a:rPr lang="en-US" sz="2124">
                <a:solidFill>
                  <a:srgbClr val="FFFFFF"/>
                </a:solidFill>
                <a:latin typeface="Bitter"/>
                <a:ea typeface="Bitter"/>
                <a:cs typeface="Bitter"/>
                <a:sym typeface="Bitter"/>
              </a:rPr>
              <a:t> on test set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087100" y="82897"/>
            <a:ext cx="7200900" cy="10287000"/>
            <a:chOff x="0" y="0"/>
            <a:chExt cx="96012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6012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737592" y="542032"/>
            <a:ext cx="6703962" cy="696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24"/>
              </a:lnSpc>
            </a:pPr>
            <a:r>
              <a:rPr lang="en-US" sz="4124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Model Performance Metrics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37592" y="1736377"/>
            <a:ext cx="314265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7"/>
              </a:lnSpc>
            </a:pPr>
            <a:r>
              <a:rPr lang="en-US" sz="543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99%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91791" y="2599879"/>
            <a:ext cx="2634257" cy="348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2"/>
              </a:lnSpc>
            </a:pPr>
            <a:r>
              <a:rPr lang="en-US" sz="206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Overall Accuracy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37592" y="3007816"/>
            <a:ext cx="3142655" cy="403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625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Test set performance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143672" y="1736377"/>
            <a:ext cx="314265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7"/>
              </a:lnSpc>
            </a:pPr>
            <a:r>
              <a:rPr lang="en-US" sz="543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98.8%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97871" y="2599879"/>
            <a:ext cx="2634257" cy="348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2"/>
              </a:lnSpc>
            </a:pPr>
            <a:r>
              <a:rPr lang="en-US" sz="206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Precision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43672" y="3007816"/>
            <a:ext cx="3142655" cy="403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625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High confidence predictions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49754" y="1736377"/>
            <a:ext cx="314265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7"/>
              </a:lnSpc>
            </a:pPr>
            <a:r>
              <a:rPr lang="en-US" sz="543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98.9%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03951" y="2599879"/>
            <a:ext cx="2634258" cy="348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2"/>
              </a:lnSpc>
            </a:pPr>
            <a:r>
              <a:rPr lang="en-US" sz="206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Recall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49754" y="3007816"/>
            <a:ext cx="3142655" cy="403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625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Captures almost all cases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143672" y="4014639"/>
            <a:ext cx="3142655" cy="61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37"/>
              </a:lnSpc>
            </a:pPr>
            <a:r>
              <a:rPr lang="en-US" sz="5437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98.85%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397871" y="4878140"/>
            <a:ext cx="2634257" cy="348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62"/>
              </a:lnSpc>
            </a:pPr>
            <a:r>
              <a:rPr lang="en-US" sz="206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F1-Score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143672" y="5286077"/>
            <a:ext cx="3142655" cy="403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625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Perfect balance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7592" y="6118622"/>
            <a:ext cx="2634257" cy="348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Training Time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7592" y="6610945"/>
            <a:ext cx="2940546" cy="403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~5 minutes on GPU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201716" y="6118622"/>
            <a:ext cx="2634257" cy="348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Prediction Time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01716" y="6610945"/>
            <a:ext cx="2940546" cy="403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&lt; 50ms per sample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665839" y="6118622"/>
            <a:ext cx="2634257" cy="348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Model Size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7665839" y="6610945"/>
            <a:ext cx="3045321" cy="4037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625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~2.5 MB optimized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737592" y="7441406"/>
            <a:ext cx="474166" cy="474166"/>
            <a:chOff x="0" y="0"/>
            <a:chExt cx="632222" cy="63222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32206" cy="632206"/>
            </a:xfrm>
            <a:custGeom>
              <a:avLst/>
              <a:gdLst/>
              <a:ahLst/>
              <a:cxnLst/>
              <a:rect r="r" b="b" t="t" l="l"/>
              <a:pathLst>
                <a:path h="632206" w="632206">
                  <a:moveTo>
                    <a:pt x="0" y="42164"/>
                  </a:moveTo>
                  <a:cubicBezTo>
                    <a:pt x="0" y="18923"/>
                    <a:pt x="18923" y="0"/>
                    <a:pt x="42164" y="0"/>
                  </a:cubicBezTo>
                  <a:lnTo>
                    <a:pt x="590042" y="0"/>
                  </a:lnTo>
                  <a:cubicBezTo>
                    <a:pt x="613283" y="0"/>
                    <a:pt x="632206" y="18923"/>
                    <a:pt x="632206" y="42164"/>
                  </a:cubicBezTo>
                  <a:lnTo>
                    <a:pt x="632206" y="590042"/>
                  </a:lnTo>
                  <a:cubicBezTo>
                    <a:pt x="632206" y="613283"/>
                    <a:pt x="613283" y="632206"/>
                    <a:pt x="590042" y="632206"/>
                  </a:cubicBezTo>
                  <a:lnTo>
                    <a:pt x="42164" y="632206"/>
                  </a:lnTo>
                  <a:cubicBezTo>
                    <a:pt x="18923" y="632206"/>
                    <a:pt x="0" y="613410"/>
                    <a:pt x="0" y="590042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422499" y="7494686"/>
            <a:ext cx="6374309" cy="348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Near-perfect diagonal alignment in confusion matrix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737592" y="8337054"/>
            <a:ext cx="474166" cy="474166"/>
            <a:chOff x="0" y="0"/>
            <a:chExt cx="632222" cy="63222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32206" cy="632206"/>
            </a:xfrm>
            <a:custGeom>
              <a:avLst/>
              <a:gdLst/>
              <a:ahLst/>
              <a:cxnLst/>
              <a:rect r="r" b="b" t="t" l="l"/>
              <a:pathLst>
                <a:path h="632206" w="632206">
                  <a:moveTo>
                    <a:pt x="0" y="42164"/>
                  </a:moveTo>
                  <a:cubicBezTo>
                    <a:pt x="0" y="18923"/>
                    <a:pt x="18923" y="0"/>
                    <a:pt x="42164" y="0"/>
                  </a:cubicBezTo>
                  <a:lnTo>
                    <a:pt x="590042" y="0"/>
                  </a:lnTo>
                  <a:cubicBezTo>
                    <a:pt x="613283" y="0"/>
                    <a:pt x="632206" y="18923"/>
                    <a:pt x="632206" y="42164"/>
                  </a:cubicBezTo>
                  <a:lnTo>
                    <a:pt x="632206" y="590042"/>
                  </a:lnTo>
                  <a:cubicBezTo>
                    <a:pt x="632206" y="613283"/>
                    <a:pt x="613283" y="632206"/>
                    <a:pt x="590042" y="632206"/>
                  </a:cubicBezTo>
                  <a:lnTo>
                    <a:pt x="42164" y="632206"/>
                  </a:lnTo>
                  <a:cubicBezTo>
                    <a:pt x="18923" y="632206"/>
                    <a:pt x="0" y="613410"/>
                    <a:pt x="0" y="590042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1422499" y="8390335"/>
            <a:ext cx="4787504" cy="348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Beats baseline models by 15%+ accuracy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737592" y="9232701"/>
            <a:ext cx="474166" cy="474166"/>
            <a:chOff x="0" y="0"/>
            <a:chExt cx="632222" cy="63222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32206" cy="632206"/>
            </a:xfrm>
            <a:custGeom>
              <a:avLst/>
              <a:gdLst/>
              <a:ahLst/>
              <a:cxnLst/>
              <a:rect r="r" b="b" t="t" l="l"/>
              <a:pathLst>
                <a:path h="632206" w="632206">
                  <a:moveTo>
                    <a:pt x="0" y="42164"/>
                  </a:moveTo>
                  <a:cubicBezTo>
                    <a:pt x="0" y="18923"/>
                    <a:pt x="18923" y="0"/>
                    <a:pt x="42164" y="0"/>
                  </a:cubicBezTo>
                  <a:lnTo>
                    <a:pt x="590042" y="0"/>
                  </a:lnTo>
                  <a:cubicBezTo>
                    <a:pt x="613283" y="0"/>
                    <a:pt x="632206" y="18923"/>
                    <a:pt x="632206" y="42164"/>
                  </a:cubicBezTo>
                  <a:lnTo>
                    <a:pt x="632206" y="590042"/>
                  </a:lnTo>
                  <a:cubicBezTo>
                    <a:pt x="632206" y="613283"/>
                    <a:pt x="613283" y="632206"/>
                    <a:pt x="590042" y="632206"/>
                  </a:cubicBezTo>
                  <a:lnTo>
                    <a:pt x="42164" y="632206"/>
                  </a:lnTo>
                  <a:cubicBezTo>
                    <a:pt x="18923" y="632206"/>
                    <a:pt x="0" y="613410"/>
                    <a:pt x="0" y="590042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TextBox 35" id="35"/>
          <p:cNvSpPr txBox="true"/>
          <p:nvPr/>
        </p:nvSpPr>
        <p:spPr>
          <a:xfrm rot="0">
            <a:off x="1422499" y="9285983"/>
            <a:ext cx="6111180" cy="348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2"/>
              </a:lnSpc>
            </a:pPr>
            <a:r>
              <a:rPr lang="en-US" sz="2062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Consistent performance across all price categories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8000" cy="2580234"/>
            <a:chOff x="0" y="0"/>
            <a:chExt cx="24384000" cy="3440312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3440303"/>
            </a:xfrm>
            <a:custGeom>
              <a:avLst/>
              <a:gdLst/>
              <a:ahLst/>
              <a:cxnLst/>
              <a:rect r="r" b="b" t="t" l="l"/>
              <a:pathLst>
                <a:path h="3440303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3440303"/>
                  </a:lnTo>
                  <a:lnTo>
                    <a:pt x="0" y="344030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" r="0" b="-2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688032" y="2950517"/>
            <a:ext cx="8216206" cy="6270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12"/>
              </a:lnSpc>
            </a:pPr>
            <a:r>
              <a:rPr lang="en-US" sz="3812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Web Application Interface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88032" y="3850035"/>
            <a:ext cx="16911935" cy="37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Modern, accessible design with WCAG 2.1 AA compliance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88032" y="4610695"/>
            <a:ext cx="2948880" cy="3970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Design Features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688032" y="5333405"/>
            <a:ext cx="98226" cy="98226"/>
            <a:chOff x="0" y="0"/>
            <a:chExt cx="130968" cy="13096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31064" cy="130937"/>
            </a:xfrm>
            <a:custGeom>
              <a:avLst/>
              <a:gdLst/>
              <a:ahLst/>
              <a:cxnLst/>
              <a:rect r="r" b="b" t="t" l="l"/>
              <a:pathLst>
                <a:path h="130937" w="131064">
                  <a:moveTo>
                    <a:pt x="0" y="65532"/>
                  </a:moveTo>
                  <a:cubicBezTo>
                    <a:pt x="0" y="29337"/>
                    <a:pt x="29337" y="0"/>
                    <a:pt x="65532" y="0"/>
                  </a:cubicBezTo>
                  <a:cubicBezTo>
                    <a:pt x="101727" y="0"/>
                    <a:pt x="131064" y="29337"/>
                    <a:pt x="131064" y="65532"/>
                  </a:cubicBezTo>
                  <a:cubicBezTo>
                    <a:pt x="131064" y="101727"/>
                    <a:pt x="101600" y="130937"/>
                    <a:pt x="65532" y="130937"/>
                  </a:cubicBezTo>
                  <a:cubicBezTo>
                    <a:pt x="29464" y="130937"/>
                    <a:pt x="0" y="101600"/>
                    <a:pt x="0" y="65532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82712" y="5190827"/>
            <a:ext cx="5932055" cy="31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Gradient Backgrounds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82712" y="5675262"/>
            <a:ext cx="7921526" cy="37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Purple-blue theme with smooth animations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88032" y="6544419"/>
            <a:ext cx="98226" cy="98226"/>
            <a:chOff x="0" y="0"/>
            <a:chExt cx="130968" cy="13096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31064" cy="130937"/>
            </a:xfrm>
            <a:custGeom>
              <a:avLst/>
              <a:gdLst/>
              <a:ahLst/>
              <a:cxnLst/>
              <a:rect r="r" b="b" t="t" l="l"/>
              <a:pathLst>
                <a:path h="130937" w="131064">
                  <a:moveTo>
                    <a:pt x="0" y="65532"/>
                  </a:moveTo>
                  <a:cubicBezTo>
                    <a:pt x="0" y="29337"/>
                    <a:pt x="29337" y="0"/>
                    <a:pt x="65532" y="0"/>
                  </a:cubicBezTo>
                  <a:cubicBezTo>
                    <a:pt x="101727" y="0"/>
                    <a:pt x="131064" y="29337"/>
                    <a:pt x="131064" y="65532"/>
                  </a:cubicBezTo>
                  <a:cubicBezTo>
                    <a:pt x="131064" y="101727"/>
                    <a:pt x="101600" y="130937"/>
                    <a:pt x="65532" y="130937"/>
                  </a:cubicBezTo>
                  <a:cubicBezTo>
                    <a:pt x="29464" y="130937"/>
                    <a:pt x="0" y="101600"/>
                    <a:pt x="0" y="65532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982712" y="6401841"/>
            <a:ext cx="2457450" cy="345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Card-Based Layout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982712" y="6886277"/>
            <a:ext cx="7921526" cy="37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Clean, organized with responsive grid system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688032" y="7755434"/>
            <a:ext cx="98226" cy="98226"/>
            <a:chOff x="0" y="0"/>
            <a:chExt cx="130968" cy="130968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1064" cy="130937"/>
            </a:xfrm>
            <a:custGeom>
              <a:avLst/>
              <a:gdLst/>
              <a:ahLst/>
              <a:cxnLst/>
              <a:rect r="r" b="b" t="t" l="l"/>
              <a:pathLst>
                <a:path h="130937" w="131064">
                  <a:moveTo>
                    <a:pt x="0" y="65532"/>
                  </a:moveTo>
                  <a:cubicBezTo>
                    <a:pt x="0" y="29337"/>
                    <a:pt x="29337" y="0"/>
                    <a:pt x="65532" y="0"/>
                  </a:cubicBezTo>
                  <a:cubicBezTo>
                    <a:pt x="101727" y="0"/>
                    <a:pt x="131064" y="29337"/>
                    <a:pt x="131064" y="65532"/>
                  </a:cubicBezTo>
                  <a:cubicBezTo>
                    <a:pt x="131064" y="101727"/>
                    <a:pt x="101600" y="130937"/>
                    <a:pt x="65532" y="130937"/>
                  </a:cubicBezTo>
                  <a:cubicBezTo>
                    <a:pt x="29464" y="130937"/>
                    <a:pt x="0" y="101600"/>
                    <a:pt x="0" y="65532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82712" y="7612856"/>
            <a:ext cx="2457450" cy="345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Real-Time Validation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82712" y="8097291"/>
            <a:ext cx="7921526" cy="37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Inline error messages and feedback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393287" y="4610695"/>
            <a:ext cx="4737927" cy="377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75"/>
              </a:lnSpc>
            </a:pPr>
            <a:r>
              <a:rPr lang="en-US" sz="2312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Accessibility Features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393288" y="5333405"/>
            <a:ext cx="98226" cy="98226"/>
            <a:chOff x="0" y="0"/>
            <a:chExt cx="130968" cy="130968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31064" cy="130937"/>
            </a:xfrm>
            <a:custGeom>
              <a:avLst/>
              <a:gdLst/>
              <a:ahLst/>
              <a:cxnLst/>
              <a:rect r="r" b="b" t="t" l="l"/>
              <a:pathLst>
                <a:path h="130937" w="131064">
                  <a:moveTo>
                    <a:pt x="0" y="65532"/>
                  </a:moveTo>
                  <a:cubicBezTo>
                    <a:pt x="0" y="29337"/>
                    <a:pt x="29337" y="0"/>
                    <a:pt x="65532" y="0"/>
                  </a:cubicBezTo>
                  <a:cubicBezTo>
                    <a:pt x="101727" y="0"/>
                    <a:pt x="131064" y="29337"/>
                    <a:pt x="131064" y="65532"/>
                  </a:cubicBezTo>
                  <a:cubicBezTo>
                    <a:pt x="131064" y="101727"/>
                    <a:pt x="101600" y="130937"/>
                    <a:pt x="65532" y="130937"/>
                  </a:cubicBezTo>
                  <a:cubicBezTo>
                    <a:pt x="29464" y="130937"/>
                    <a:pt x="0" y="101600"/>
                    <a:pt x="0" y="65532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687966" y="5190827"/>
            <a:ext cx="5333823" cy="31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Full Keyboard Navigation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687966" y="5675262"/>
            <a:ext cx="7921526" cy="37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Complete keyboard support with shortcuts</a:t>
            </a:r>
          </a:p>
        </p:txBody>
      </p:sp>
      <p:grpSp>
        <p:nvGrpSpPr>
          <p:cNvPr name="Group 28" id="28"/>
          <p:cNvGrpSpPr/>
          <p:nvPr/>
        </p:nvGrpSpPr>
        <p:grpSpPr>
          <a:xfrm rot="0">
            <a:off x="9393288" y="6544419"/>
            <a:ext cx="98226" cy="98226"/>
            <a:chOff x="0" y="0"/>
            <a:chExt cx="130968" cy="130968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31064" cy="130937"/>
            </a:xfrm>
            <a:custGeom>
              <a:avLst/>
              <a:gdLst/>
              <a:ahLst/>
              <a:cxnLst/>
              <a:rect r="r" b="b" t="t" l="l"/>
              <a:pathLst>
                <a:path h="130937" w="131064">
                  <a:moveTo>
                    <a:pt x="0" y="65532"/>
                  </a:moveTo>
                  <a:cubicBezTo>
                    <a:pt x="0" y="29337"/>
                    <a:pt x="29337" y="0"/>
                    <a:pt x="65532" y="0"/>
                  </a:cubicBezTo>
                  <a:cubicBezTo>
                    <a:pt x="101727" y="0"/>
                    <a:pt x="131064" y="29337"/>
                    <a:pt x="131064" y="65532"/>
                  </a:cubicBezTo>
                  <a:cubicBezTo>
                    <a:pt x="131064" y="101727"/>
                    <a:pt x="101600" y="130937"/>
                    <a:pt x="65532" y="130937"/>
                  </a:cubicBezTo>
                  <a:cubicBezTo>
                    <a:pt x="29464" y="130937"/>
                    <a:pt x="0" y="101600"/>
                    <a:pt x="0" y="65532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30" id="30"/>
          <p:cNvSpPr txBox="true"/>
          <p:nvPr/>
        </p:nvSpPr>
        <p:spPr>
          <a:xfrm rot="0">
            <a:off x="9687966" y="6401841"/>
            <a:ext cx="3384440" cy="31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Screen Reader Support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9687966" y="6886277"/>
            <a:ext cx="7921526" cy="37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ARIA labels and high contrast mode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393288" y="7755434"/>
            <a:ext cx="98226" cy="98226"/>
            <a:chOff x="0" y="0"/>
            <a:chExt cx="130968" cy="130968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31064" cy="130937"/>
            </a:xfrm>
            <a:custGeom>
              <a:avLst/>
              <a:gdLst/>
              <a:ahLst/>
              <a:cxnLst/>
              <a:rect r="r" b="b" t="t" l="l"/>
              <a:pathLst>
                <a:path h="130937" w="131064">
                  <a:moveTo>
                    <a:pt x="0" y="65532"/>
                  </a:moveTo>
                  <a:cubicBezTo>
                    <a:pt x="0" y="29337"/>
                    <a:pt x="29337" y="0"/>
                    <a:pt x="65532" y="0"/>
                  </a:cubicBezTo>
                  <a:cubicBezTo>
                    <a:pt x="101727" y="0"/>
                    <a:pt x="131064" y="29337"/>
                    <a:pt x="131064" y="65532"/>
                  </a:cubicBezTo>
                  <a:cubicBezTo>
                    <a:pt x="131064" y="101727"/>
                    <a:pt x="101600" y="130937"/>
                    <a:pt x="65532" y="130937"/>
                  </a:cubicBezTo>
                  <a:cubicBezTo>
                    <a:pt x="29464" y="130937"/>
                    <a:pt x="0" y="101600"/>
                    <a:pt x="0" y="65532"/>
                  </a:cubicBez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9687966" y="7612856"/>
            <a:ext cx="2457450" cy="3451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5"/>
              </a:lnSpc>
            </a:pPr>
            <a:r>
              <a:rPr lang="en-US" sz="1874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Mobile-First Design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687966" y="8097291"/>
            <a:ext cx="7921526" cy="37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Optimized for all screen sizes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688032" y="8911232"/>
            <a:ext cx="16911935" cy="835075"/>
            <a:chOff x="0" y="0"/>
            <a:chExt cx="22549247" cy="111343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2549357" cy="1113536"/>
            </a:xfrm>
            <a:custGeom>
              <a:avLst/>
              <a:gdLst/>
              <a:ahLst/>
              <a:cxnLst/>
              <a:rect r="r" b="b" t="t" l="l"/>
              <a:pathLst>
                <a:path h="1113536" w="22549357">
                  <a:moveTo>
                    <a:pt x="0" y="39370"/>
                  </a:moveTo>
                  <a:cubicBezTo>
                    <a:pt x="0" y="17653"/>
                    <a:pt x="17653" y="0"/>
                    <a:pt x="39370" y="0"/>
                  </a:cubicBezTo>
                  <a:lnTo>
                    <a:pt x="22509987" y="0"/>
                  </a:lnTo>
                  <a:cubicBezTo>
                    <a:pt x="22531704" y="0"/>
                    <a:pt x="22549357" y="17653"/>
                    <a:pt x="22549357" y="39370"/>
                  </a:cubicBezTo>
                  <a:lnTo>
                    <a:pt x="22549357" y="1074166"/>
                  </a:lnTo>
                  <a:cubicBezTo>
                    <a:pt x="22549357" y="1095883"/>
                    <a:pt x="22531704" y="1113536"/>
                    <a:pt x="22509987" y="1113536"/>
                  </a:cubicBezTo>
                  <a:lnTo>
                    <a:pt x="39370" y="1113536"/>
                  </a:lnTo>
                  <a:cubicBezTo>
                    <a:pt x="17653" y="1113536"/>
                    <a:pt x="0" y="1095883"/>
                    <a:pt x="0" y="1074166"/>
                  </a:cubicBezTo>
                  <a:close/>
                </a:path>
              </a:pathLst>
            </a:custGeom>
            <a:solidFill>
              <a:srgbClr val="2A2C20"/>
            </a:solidFill>
          </p:spPr>
        </p:sp>
      </p:grpSp>
      <p:grpSp>
        <p:nvGrpSpPr>
          <p:cNvPr name="Group 38" id="38"/>
          <p:cNvGrpSpPr>
            <a:grpSpLocks noChangeAspect="true"/>
          </p:cNvGrpSpPr>
          <p:nvPr/>
        </p:nvGrpSpPr>
        <p:grpSpPr>
          <a:xfrm rot="0">
            <a:off x="884485" y="9203978"/>
            <a:ext cx="245715" cy="196454"/>
            <a:chOff x="0" y="0"/>
            <a:chExt cx="327620" cy="261938"/>
          </a:xfrm>
        </p:grpSpPr>
        <p:sp>
          <p:nvSpPr>
            <p:cNvPr name="Freeform 39" id="39" descr="preencoded.png"/>
            <p:cNvSpPr/>
            <p:nvPr/>
          </p:nvSpPr>
          <p:spPr>
            <a:xfrm flipH="false" flipV="false" rot="0">
              <a:off x="0" y="0"/>
              <a:ext cx="327660" cy="262001"/>
            </a:xfrm>
            <a:custGeom>
              <a:avLst/>
              <a:gdLst/>
              <a:ahLst/>
              <a:cxnLst/>
              <a:rect r="r" b="b" t="t" l="l"/>
              <a:pathLst>
                <a:path h="262001" w="327660">
                  <a:moveTo>
                    <a:pt x="0" y="0"/>
                  </a:moveTo>
                  <a:lnTo>
                    <a:pt x="327660" y="0"/>
                  </a:lnTo>
                  <a:lnTo>
                    <a:pt x="327660" y="262001"/>
                  </a:lnTo>
                  <a:lnTo>
                    <a:pt x="0" y="2620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511" r="12" b="-487"/>
              </a:stretch>
            </a:blipFill>
          </p:spPr>
        </p:sp>
      </p:grpSp>
      <p:sp>
        <p:nvSpPr>
          <p:cNvPr name="TextBox 40" id="40"/>
          <p:cNvSpPr txBox="true"/>
          <p:nvPr/>
        </p:nvSpPr>
        <p:spPr>
          <a:xfrm rot="0">
            <a:off x="1326654" y="9099649"/>
            <a:ext cx="16076860" cy="371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7"/>
              </a:lnSpc>
            </a:pPr>
            <a:r>
              <a:rPr lang="en-US" sz="1500" b="true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Keyboard Shortcuts:</a:t>
            </a:r>
            <a:r>
              <a:rPr lang="en-US" sz="1500">
                <a:solidFill>
                  <a:srgbClr val="FFFFFF"/>
                </a:solidFill>
                <a:latin typeface="Bitter"/>
                <a:ea typeface="Bitter"/>
                <a:cs typeface="Bitter"/>
                <a:sym typeface="Bitter"/>
              </a:rPr>
              <a:t> Ctrl+Enter (Submit), Ctrl+R (Reset), Ctrl+E (Example) | </a:t>
            </a:r>
            <a:r>
              <a:rPr lang="en-US" sz="1500" b="true">
                <a:solidFill>
                  <a:srgbClr val="FFFFFF"/>
                </a:solidFill>
                <a:latin typeface="Bitter Bold"/>
                <a:ea typeface="Bitter Bold"/>
                <a:cs typeface="Bitter Bold"/>
                <a:sym typeface="Bitter Bold"/>
              </a:rPr>
              <a:t>Auto-Save:</a:t>
            </a:r>
            <a:r>
              <a:rPr lang="en-US" sz="1500">
                <a:solidFill>
                  <a:srgbClr val="FFFFFF"/>
                </a:solidFill>
                <a:latin typeface="Bitter"/>
                <a:ea typeface="Bitter"/>
                <a:cs typeface="Bitter"/>
                <a:sym typeface="Bitter"/>
              </a:rPr>
              <a:t> Form data preserved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15811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9633"/>
            <a:ext cx="18288000" cy="10804882"/>
            <a:chOff x="0" y="0"/>
            <a:chExt cx="24384000" cy="1440650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4406510"/>
            </a:xfrm>
            <a:custGeom>
              <a:avLst/>
              <a:gdLst/>
              <a:ahLst/>
              <a:cxnLst/>
              <a:rect r="r" b="b" t="t" l="l"/>
              <a:pathLst>
                <a:path h="1440651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4406510"/>
                  </a:lnTo>
                  <a:lnTo>
                    <a:pt x="0" y="1440651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96044" y="351681"/>
            <a:ext cx="8275510" cy="559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12"/>
              </a:lnSpc>
            </a:pPr>
            <a:r>
              <a:rPr lang="en-US" sz="3449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API &amp; Backend Architecture</a:t>
            </a:r>
          </a:p>
        </p:txBody>
      </p:sp>
      <p:grpSp>
        <p:nvGrpSpPr>
          <p:cNvPr name="Group 7" id="7"/>
          <p:cNvGrpSpPr>
            <a:grpSpLocks noChangeAspect="true"/>
          </p:cNvGrpSpPr>
          <p:nvPr/>
        </p:nvGrpSpPr>
        <p:grpSpPr>
          <a:xfrm rot="0">
            <a:off x="582513" y="1505899"/>
            <a:ext cx="8647956" cy="567035"/>
            <a:chOff x="0" y="0"/>
            <a:chExt cx="11530608" cy="756047"/>
          </a:xfrm>
        </p:grpSpPr>
        <p:sp>
          <p:nvSpPr>
            <p:cNvPr name="Freeform 8" id="8" descr="preencoded.png"/>
            <p:cNvSpPr/>
            <p:nvPr/>
          </p:nvSpPr>
          <p:spPr>
            <a:xfrm flipH="false" flipV="false" rot="0">
              <a:off x="0" y="0"/>
              <a:ext cx="11530584" cy="756031"/>
            </a:xfrm>
            <a:custGeom>
              <a:avLst/>
              <a:gdLst/>
              <a:ahLst/>
              <a:cxnLst/>
              <a:rect r="r" b="b" t="t" l="l"/>
              <a:pathLst>
                <a:path h="756031" w="11530584">
                  <a:moveTo>
                    <a:pt x="0" y="0"/>
                  </a:moveTo>
                  <a:lnTo>
                    <a:pt x="11530584" y="0"/>
                  </a:lnTo>
                  <a:lnTo>
                    <a:pt x="11530584" y="756031"/>
                  </a:lnTo>
                  <a:lnTo>
                    <a:pt x="0" y="756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389" r="0" b="-391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724198" y="2195568"/>
            <a:ext cx="1771947" cy="289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774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FastAPI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24198" y="2444855"/>
            <a:ext cx="8364587" cy="338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2"/>
              </a:lnSpc>
            </a:pPr>
            <a:r>
              <a:rPr lang="en-US" sz="176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Modern, high-performance web framework</a:t>
            </a:r>
          </a:p>
        </p:txBody>
      </p: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9230469" y="1505899"/>
            <a:ext cx="8647956" cy="567035"/>
            <a:chOff x="0" y="0"/>
            <a:chExt cx="11530608" cy="756047"/>
          </a:xfrm>
        </p:grpSpPr>
        <p:sp>
          <p:nvSpPr>
            <p:cNvPr name="Freeform 12" id="12" descr="preencoded.png"/>
            <p:cNvSpPr/>
            <p:nvPr/>
          </p:nvSpPr>
          <p:spPr>
            <a:xfrm flipH="false" flipV="false" rot="0">
              <a:off x="0" y="0"/>
              <a:ext cx="11530584" cy="756031"/>
            </a:xfrm>
            <a:custGeom>
              <a:avLst/>
              <a:gdLst/>
              <a:ahLst/>
              <a:cxnLst/>
              <a:rect r="r" b="b" t="t" l="l"/>
              <a:pathLst>
                <a:path h="756031" w="11530584">
                  <a:moveTo>
                    <a:pt x="0" y="0"/>
                  </a:moveTo>
                  <a:lnTo>
                    <a:pt x="11530584" y="0"/>
                  </a:lnTo>
                  <a:lnTo>
                    <a:pt x="11530584" y="756031"/>
                  </a:lnTo>
                  <a:lnTo>
                    <a:pt x="0" y="756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389" r="0" b="-391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372154" y="2195568"/>
            <a:ext cx="1771947" cy="326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6"/>
              </a:lnSpc>
            </a:pPr>
            <a:r>
              <a:rPr lang="en-US" sz="2074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PyTorch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372154" y="2444855"/>
            <a:ext cx="8364587" cy="338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2"/>
              </a:lnSpc>
            </a:pPr>
            <a:r>
              <a:rPr lang="en-US" sz="176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Deep learning model inference</a:t>
            </a:r>
          </a:p>
        </p:txBody>
      </p:sp>
      <p:grpSp>
        <p:nvGrpSpPr>
          <p:cNvPr name="Group 15" id="15"/>
          <p:cNvGrpSpPr>
            <a:grpSpLocks noChangeAspect="true"/>
          </p:cNvGrpSpPr>
          <p:nvPr/>
        </p:nvGrpSpPr>
        <p:grpSpPr>
          <a:xfrm rot="0">
            <a:off x="582513" y="2889554"/>
            <a:ext cx="8647956" cy="567035"/>
            <a:chOff x="0" y="0"/>
            <a:chExt cx="11530608" cy="756047"/>
          </a:xfrm>
        </p:grpSpPr>
        <p:sp>
          <p:nvSpPr>
            <p:cNvPr name="Freeform 16" id="16" descr="preencoded.png"/>
            <p:cNvSpPr/>
            <p:nvPr/>
          </p:nvSpPr>
          <p:spPr>
            <a:xfrm flipH="false" flipV="false" rot="0">
              <a:off x="0" y="0"/>
              <a:ext cx="11530584" cy="756031"/>
            </a:xfrm>
            <a:custGeom>
              <a:avLst/>
              <a:gdLst/>
              <a:ahLst/>
              <a:cxnLst/>
              <a:rect r="r" b="b" t="t" l="l"/>
              <a:pathLst>
                <a:path h="756031" w="11530584">
                  <a:moveTo>
                    <a:pt x="0" y="0"/>
                  </a:moveTo>
                  <a:lnTo>
                    <a:pt x="11530584" y="0"/>
                  </a:lnTo>
                  <a:lnTo>
                    <a:pt x="11530584" y="756031"/>
                  </a:lnTo>
                  <a:lnTo>
                    <a:pt x="0" y="756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389" r="0" b="-391"/>
              </a:stretch>
            </a:blip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724198" y="3579223"/>
            <a:ext cx="1771947" cy="2891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78"/>
              </a:lnSpc>
            </a:pPr>
            <a:r>
              <a:rPr lang="en-US" sz="1774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Uvicorn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24198" y="3828510"/>
            <a:ext cx="8364587" cy="338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2"/>
              </a:lnSpc>
            </a:pPr>
            <a:r>
              <a:rPr lang="en-US" sz="176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ASGI server with async support</a:t>
            </a:r>
          </a:p>
        </p:txBody>
      </p:sp>
      <p:grpSp>
        <p:nvGrpSpPr>
          <p:cNvPr name="Group 19" id="19"/>
          <p:cNvGrpSpPr>
            <a:grpSpLocks noChangeAspect="true"/>
          </p:cNvGrpSpPr>
          <p:nvPr/>
        </p:nvGrpSpPr>
        <p:grpSpPr>
          <a:xfrm rot="0">
            <a:off x="9230469" y="2889554"/>
            <a:ext cx="8647956" cy="567035"/>
            <a:chOff x="0" y="0"/>
            <a:chExt cx="11530608" cy="756047"/>
          </a:xfrm>
        </p:grpSpPr>
        <p:sp>
          <p:nvSpPr>
            <p:cNvPr name="Freeform 20" id="20" descr="preencoded.png"/>
            <p:cNvSpPr/>
            <p:nvPr/>
          </p:nvSpPr>
          <p:spPr>
            <a:xfrm flipH="false" flipV="false" rot="0">
              <a:off x="0" y="0"/>
              <a:ext cx="11530584" cy="756031"/>
            </a:xfrm>
            <a:custGeom>
              <a:avLst/>
              <a:gdLst/>
              <a:ahLst/>
              <a:cxnLst/>
              <a:rect r="r" b="b" t="t" l="l"/>
              <a:pathLst>
                <a:path h="756031" w="11530584">
                  <a:moveTo>
                    <a:pt x="0" y="0"/>
                  </a:moveTo>
                  <a:lnTo>
                    <a:pt x="11530584" y="0"/>
                  </a:lnTo>
                  <a:lnTo>
                    <a:pt x="11530584" y="756031"/>
                  </a:lnTo>
                  <a:lnTo>
                    <a:pt x="0" y="7560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-389" r="0" b="-391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9372154" y="3579223"/>
            <a:ext cx="1771947" cy="3261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46"/>
              </a:lnSpc>
            </a:pPr>
            <a:r>
              <a:rPr lang="en-US" sz="2074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CUDA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372154" y="3828510"/>
            <a:ext cx="8364587" cy="338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02"/>
              </a:lnSpc>
            </a:pPr>
            <a:r>
              <a:rPr lang="en-US" sz="176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GPU acceleration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82513" y="5125033"/>
            <a:ext cx="3868423" cy="452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58"/>
              </a:lnSpc>
            </a:pPr>
            <a:r>
              <a:rPr lang="en-US" sz="2724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API Endpoints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82513" y="5710675"/>
            <a:ext cx="9298921" cy="435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6128" indent="-163064" lvl="1">
              <a:lnSpc>
                <a:spcPts val="3561"/>
              </a:lnSpc>
              <a:buAutoNum type="arabicPeriod" startAt="1"/>
            </a:pPr>
            <a:r>
              <a:rPr lang="en-US" b="true" sz="2162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POST /api/recommend</a:t>
            </a:r>
            <a:r>
              <a:rPr lang="en-US" sz="216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- Price prediction + recommendations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37729" y="6279412"/>
            <a:ext cx="8475018" cy="435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6128" indent="-163064" lvl="1">
              <a:lnSpc>
                <a:spcPts val="3561"/>
              </a:lnSpc>
              <a:buAutoNum type="arabicPeriod" startAt="1"/>
            </a:pPr>
            <a:r>
              <a:rPr lang="en-US" b="true" sz="2162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GET /health</a:t>
            </a:r>
            <a:r>
              <a:rPr lang="en-US" sz="216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- Health check &amp; model status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37729" y="6857674"/>
            <a:ext cx="8475018" cy="435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6128" indent="-163064" lvl="1">
              <a:lnSpc>
                <a:spcPts val="3561"/>
              </a:lnSpc>
              <a:buAutoNum type="arabicPeriod" startAt="1"/>
            </a:pPr>
            <a:r>
              <a:rPr lang="en-US" b="true" sz="2162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GET /api/examples</a:t>
            </a:r>
            <a:r>
              <a:rPr lang="en-US" sz="216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- Sample phone specifications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82513" y="7438848"/>
            <a:ext cx="8475018" cy="4353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6128" indent="-163064" lvl="1">
              <a:lnSpc>
                <a:spcPts val="3561"/>
              </a:lnSpc>
              <a:buAutoNum type="arabicPeriod" startAt="1"/>
            </a:pPr>
            <a:r>
              <a:rPr lang="en-US" b="true" sz="2162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GET /api/phones/trending</a:t>
            </a:r>
            <a:r>
              <a:rPr lang="en-US" sz="216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- Popular phones database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625767" y="6033961"/>
            <a:ext cx="3920644" cy="4341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31"/>
              </a:lnSpc>
            </a:pPr>
            <a:r>
              <a:rPr lang="en-US" sz="2624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Performance &amp; Security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3247107" y="7810392"/>
            <a:ext cx="1743670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3149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100ms</a:t>
            </a:r>
          </a:p>
        </p:txBody>
      </p:sp>
      <p:grpSp>
        <p:nvGrpSpPr>
          <p:cNvPr name="Group 30" id="30"/>
          <p:cNvGrpSpPr>
            <a:grpSpLocks noChangeAspect="true"/>
          </p:cNvGrpSpPr>
          <p:nvPr/>
        </p:nvGrpSpPr>
        <p:grpSpPr>
          <a:xfrm rot="0">
            <a:off x="13055714" y="6944331"/>
            <a:ext cx="2126456" cy="2126456"/>
            <a:chOff x="0" y="0"/>
            <a:chExt cx="2835275" cy="2835275"/>
          </a:xfrm>
        </p:grpSpPr>
        <p:sp>
          <p:nvSpPr>
            <p:cNvPr name="Freeform 31" id="31" descr="preencoded.png"/>
            <p:cNvSpPr/>
            <p:nvPr/>
          </p:nvSpPr>
          <p:spPr>
            <a:xfrm flipH="false" flipV="false" rot="0">
              <a:off x="0" y="0"/>
              <a:ext cx="2835275" cy="2835275"/>
            </a:xfrm>
            <a:custGeom>
              <a:avLst/>
              <a:gdLst/>
              <a:ahLst/>
              <a:cxnLst/>
              <a:rect r="r" b="b" t="t" l="l"/>
              <a:pathLst>
                <a:path h="2835275" w="2835275">
                  <a:moveTo>
                    <a:pt x="0" y="0"/>
                  </a:moveTo>
                  <a:lnTo>
                    <a:pt x="2835275" y="0"/>
                  </a:lnTo>
                  <a:lnTo>
                    <a:pt x="2835275" y="2835275"/>
                  </a:lnTo>
                  <a:lnTo>
                    <a:pt x="0" y="2835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32" id="32"/>
          <p:cNvSpPr txBox="true"/>
          <p:nvPr/>
        </p:nvSpPr>
        <p:spPr>
          <a:xfrm rot="0">
            <a:off x="9881434" y="9472017"/>
            <a:ext cx="8475018" cy="297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8"/>
              </a:lnSpc>
            </a:pPr>
            <a:r>
              <a:rPr lang="en-US" sz="146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Response Time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842418" y="7810392"/>
            <a:ext cx="1743670" cy="43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3149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1000+</a:t>
            </a:r>
          </a:p>
        </p:txBody>
      </p:sp>
      <p:grpSp>
        <p:nvGrpSpPr>
          <p:cNvPr name="Group 34" id="34"/>
          <p:cNvGrpSpPr>
            <a:grpSpLocks noChangeAspect="true"/>
          </p:cNvGrpSpPr>
          <p:nvPr/>
        </p:nvGrpSpPr>
        <p:grpSpPr>
          <a:xfrm rot="0">
            <a:off x="9651025" y="6944331"/>
            <a:ext cx="2126456" cy="2126456"/>
            <a:chOff x="0" y="0"/>
            <a:chExt cx="2835275" cy="2835275"/>
          </a:xfrm>
        </p:grpSpPr>
        <p:sp>
          <p:nvSpPr>
            <p:cNvPr name="Freeform 35" id="35" descr="preencoded.png"/>
            <p:cNvSpPr/>
            <p:nvPr/>
          </p:nvSpPr>
          <p:spPr>
            <a:xfrm flipH="false" flipV="false" rot="0">
              <a:off x="0" y="0"/>
              <a:ext cx="2835275" cy="2835275"/>
            </a:xfrm>
            <a:custGeom>
              <a:avLst/>
              <a:gdLst/>
              <a:ahLst/>
              <a:cxnLst/>
              <a:rect r="r" b="b" t="t" l="l"/>
              <a:pathLst>
                <a:path h="2835275" w="2835275">
                  <a:moveTo>
                    <a:pt x="0" y="0"/>
                  </a:moveTo>
                  <a:lnTo>
                    <a:pt x="2835275" y="0"/>
                  </a:lnTo>
                  <a:lnTo>
                    <a:pt x="2835275" y="2835275"/>
                  </a:lnTo>
                  <a:lnTo>
                    <a:pt x="0" y="28352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0" b="0"/>
              </a:stretch>
            </a:blipFill>
          </p:spPr>
        </p:sp>
      </p:grpSp>
      <p:sp>
        <p:nvSpPr>
          <p:cNvPr name="TextBox 36" id="36"/>
          <p:cNvSpPr txBox="true"/>
          <p:nvPr/>
        </p:nvSpPr>
        <p:spPr>
          <a:xfrm rot="0">
            <a:off x="6476745" y="9442262"/>
            <a:ext cx="8475018" cy="297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08"/>
              </a:lnSpc>
            </a:pPr>
            <a:r>
              <a:rPr lang="en-US" sz="146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Concurrent Requests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144000" y="4939273"/>
            <a:ext cx="8475018" cy="4067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32"/>
              </a:lnSpc>
            </a:pPr>
            <a:r>
              <a:rPr lang="en-US" sz="1962" b="true">
                <a:solidFill>
                  <a:srgbClr val="C2C4B5"/>
                </a:solidFill>
                <a:latin typeface="Bitter Bold"/>
                <a:ea typeface="Bitter Bold"/>
                <a:cs typeface="Bitter Bold"/>
                <a:sym typeface="Bitter Bold"/>
              </a:rPr>
              <a:t>Security:</a:t>
            </a:r>
            <a:r>
              <a:rPr lang="en-US" sz="196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CORS enabled, input validation, rate limiting, error handling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8000" cy="3721150"/>
            <a:chOff x="0" y="0"/>
            <a:chExt cx="24384000" cy="496153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4961509"/>
            </a:xfrm>
            <a:custGeom>
              <a:avLst/>
              <a:gdLst/>
              <a:ahLst/>
              <a:cxnLst/>
              <a:rect r="r" b="b" t="t" l="l"/>
              <a:pathLst>
                <a:path h="4961509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4961509"/>
                  </a:lnTo>
                  <a:lnTo>
                    <a:pt x="0" y="496150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41" r="0" b="-42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92238" y="4379565"/>
            <a:ext cx="7088237" cy="9431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37"/>
              </a:lnSpc>
            </a:pPr>
            <a:r>
              <a:rPr lang="en-US" sz="5562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Key Achievements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2238" y="5747891"/>
            <a:ext cx="5245447" cy="3646438"/>
            <a:chOff x="0" y="0"/>
            <a:chExt cx="6993930" cy="486191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93890" cy="4861814"/>
            </a:xfrm>
            <a:custGeom>
              <a:avLst/>
              <a:gdLst/>
              <a:ahLst/>
              <a:cxnLst/>
              <a:rect r="r" b="b" t="t" l="l"/>
              <a:pathLst>
                <a:path h="4861814" w="6993890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4805172"/>
                  </a:lnTo>
                  <a:cubicBezTo>
                    <a:pt x="6993890" y="4836541"/>
                    <a:pt x="6968490" y="4861814"/>
                    <a:pt x="6937248" y="4861814"/>
                  </a:cubicBezTo>
                  <a:lnTo>
                    <a:pt x="56642" y="4861814"/>
                  </a:lnTo>
                  <a:cubicBezTo>
                    <a:pt x="25273" y="4861814"/>
                    <a:pt x="0" y="4836414"/>
                    <a:pt x="0" y="4805172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1275755" y="5993309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Model Excellence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75755" y="6549181"/>
            <a:ext cx="4678412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99% accuracy exceeding industry standards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275755" y="7555558"/>
            <a:ext cx="4678412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40% faster inference than baseline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75755" y="8561934"/>
            <a:ext cx="4678412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Production-ready deployment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21202" y="5747891"/>
            <a:ext cx="5245447" cy="3646438"/>
            <a:chOff x="0" y="0"/>
            <a:chExt cx="6993930" cy="486191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93890" cy="4861814"/>
            </a:xfrm>
            <a:custGeom>
              <a:avLst/>
              <a:gdLst/>
              <a:ahLst/>
              <a:cxnLst/>
              <a:rect r="r" b="b" t="t" l="l"/>
              <a:pathLst>
                <a:path h="4861814" w="6993890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4805172"/>
                  </a:lnTo>
                  <a:cubicBezTo>
                    <a:pt x="6993890" y="4836541"/>
                    <a:pt x="6968490" y="4861814"/>
                    <a:pt x="6937248" y="4861814"/>
                  </a:cubicBezTo>
                  <a:lnTo>
                    <a:pt x="56642" y="4861814"/>
                  </a:lnTo>
                  <a:cubicBezTo>
                    <a:pt x="25273" y="4861814"/>
                    <a:pt x="0" y="4836414"/>
                    <a:pt x="0" y="4805172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TextBox 17" id="17"/>
          <p:cNvSpPr txBox="true"/>
          <p:nvPr/>
        </p:nvSpPr>
        <p:spPr>
          <a:xfrm rot="0">
            <a:off x="6804720" y="5993309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Application Quality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04720" y="6549181"/>
            <a:ext cx="4678412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WCAG 2.1 AA compliance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804720" y="7101929"/>
            <a:ext cx="4678412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Mobile-first responsive design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804720" y="7654677"/>
            <a:ext cx="4678412" cy="1002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Modern UI/UX with keyboard shortcuts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050166" y="5747891"/>
            <a:ext cx="5245447" cy="3646438"/>
            <a:chOff x="0" y="0"/>
            <a:chExt cx="6993930" cy="486191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93890" cy="4861814"/>
            </a:xfrm>
            <a:custGeom>
              <a:avLst/>
              <a:gdLst/>
              <a:ahLst/>
              <a:cxnLst/>
              <a:rect r="r" b="b" t="t" l="l"/>
              <a:pathLst>
                <a:path h="4861814" w="6993890">
                  <a:moveTo>
                    <a:pt x="0" y="56642"/>
                  </a:moveTo>
                  <a:cubicBezTo>
                    <a:pt x="0" y="25400"/>
                    <a:pt x="25400" y="0"/>
                    <a:pt x="56642" y="0"/>
                  </a:cubicBezTo>
                  <a:lnTo>
                    <a:pt x="6937248" y="0"/>
                  </a:lnTo>
                  <a:cubicBezTo>
                    <a:pt x="6968617" y="0"/>
                    <a:pt x="6993890" y="25400"/>
                    <a:pt x="6993890" y="56642"/>
                  </a:cubicBezTo>
                  <a:lnTo>
                    <a:pt x="6993890" y="4805172"/>
                  </a:lnTo>
                  <a:cubicBezTo>
                    <a:pt x="6993890" y="4836541"/>
                    <a:pt x="6968490" y="4861814"/>
                    <a:pt x="6937248" y="4861814"/>
                  </a:cubicBezTo>
                  <a:lnTo>
                    <a:pt x="56642" y="4861814"/>
                  </a:lnTo>
                  <a:cubicBezTo>
                    <a:pt x="25273" y="4861814"/>
                    <a:pt x="0" y="4836414"/>
                    <a:pt x="0" y="4805172"/>
                  </a:cubicBezTo>
                  <a:close/>
                </a:path>
              </a:pathLst>
            </a:custGeom>
            <a:solidFill>
              <a:srgbClr val="3B3C3E"/>
            </a:solid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333685" y="5993309"/>
            <a:ext cx="3544044" cy="4810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50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Development Quality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333685" y="6549181"/>
            <a:ext cx="4678413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Clean, organized codebase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2333685" y="7101929"/>
            <a:ext cx="4678413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3000+ lines of documentation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333685" y="7654677"/>
            <a:ext cx="4678413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Industry best practices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333685" y="8207425"/>
            <a:ext cx="4678413" cy="548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29902" indent="-164951" lvl="1">
              <a:lnSpc>
                <a:spcPts val="3562"/>
              </a:lnSpc>
              <a:buFont typeface="Arial"/>
              <a:buChar char="•"/>
            </a:pPr>
            <a:r>
              <a:rPr lang="en-US" sz="2187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Secure with input validation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087100" y="0"/>
            <a:ext cx="7200900" cy="10290572"/>
            <a:chOff x="0" y="0"/>
            <a:chExt cx="9601200" cy="13720763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9601200" cy="13720826"/>
            </a:xfrm>
            <a:custGeom>
              <a:avLst/>
              <a:gdLst/>
              <a:ahLst/>
              <a:cxnLst/>
              <a:rect r="r" b="b" t="t" l="l"/>
              <a:pathLst>
                <a:path h="13720826" w="9601200">
                  <a:moveTo>
                    <a:pt x="0" y="0"/>
                  </a:moveTo>
                  <a:lnTo>
                    <a:pt x="9601200" y="0"/>
                  </a:lnTo>
                  <a:lnTo>
                    <a:pt x="9601200" y="13720826"/>
                  </a:lnTo>
                  <a:lnTo>
                    <a:pt x="0" y="137208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7" t="0" r="-17" b="0"/>
              </a:stretch>
            </a:blipFill>
          </p:spPr>
        </p:sp>
      </p:grpSp>
      <p:sp>
        <p:nvSpPr>
          <p:cNvPr name="TextBox 8" id="8"/>
          <p:cNvSpPr txBox="true"/>
          <p:nvPr/>
        </p:nvSpPr>
        <p:spPr>
          <a:xfrm rot="0">
            <a:off x="901601" y="651272"/>
            <a:ext cx="7458565" cy="827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12"/>
              </a:lnSpc>
            </a:pPr>
            <a:r>
              <a:rPr lang="en-US" sz="5062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Future Enhancements</a:t>
            </a:r>
          </a:p>
        </p:txBody>
      </p:sp>
      <p:sp>
        <p:nvSpPr>
          <p:cNvPr name="Freeform 9" id="9" descr="preencoded.png"/>
          <p:cNvSpPr/>
          <p:nvPr/>
        </p:nvSpPr>
        <p:spPr>
          <a:xfrm flipH="false" flipV="false" rot="0">
            <a:off x="901601" y="1899940"/>
            <a:ext cx="643979" cy="643979"/>
          </a:xfrm>
          <a:custGeom>
            <a:avLst/>
            <a:gdLst/>
            <a:ahLst/>
            <a:cxnLst/>
            <a:rect r="r" b="b" t="t" l="l"/>
            <a:pathLst>
              <a:path h="643979" w="643979">
                <a:moveTo>
                  <a:pt x="0" y="0"/>
                </a:moveTo>
                <a:lnTo>
                  <a:pt x="643979" y="0"/>
                </a:lnTo>
                <a:lnTo>
                  <a:pt x="643979" y="643979"/>
                </a:lnTo>
                <a:lnTo>
                  <a:pt x="0" y="6439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867495" y="2024211"/>
            <a:ext cx="3220342" cy="43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Data Expansion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67495" y="2533650"/>
            <a:ext cx="8660904" cy="90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Include 2024-2025 phones, regional pricing variations, user reviews, and price change tracking over time.</a:t>
            </a:r>
          </a:p>
        </p:txBody>
      </p:sp>
      <p:sp>
        <p:nvSpPr>
          <p:cNvPr name="Freeform 12" id="12" descr="preencoded.png"/>
          <p:cNvSpPr/>
          <p:nvPr/>
        </p:nvSpPr>
        <p:spPr>
          <a:xfrm flipH="false" flipV="false" rot="0">
            <a:off x="901601" y="3949304"/>
            <a:ext cx="643979" cy="643979"/>
          </a:xfrm>
          <a:custGeom>
            <a:avLst/>
            <a:gdLst/>
            <a:ahLst/>
            <a:cxnLst/>
            <a:rect r="r" b="b" t="t" l="l"/>
            <a:pathLst>
              <a:path h="643979" w="643979">
                <a:moveTo>
                  <a:pt x="0" y="0"/>
                </a:moveTo>
                <a:lnTo>
                  <a:pt x="643979" y="0"/>
                </a:lnTo>
                <a:lnTo>
                  <a:pt x="643979" y="643978"/>
                </a:lnTo>
                <a:lnTo>
                  <a:pt x="0" y="64397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735" t="0" r="-735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867495" y="4073575"/>
            <a:ext cx="3220342" cy="43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Model Improvements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867495" y="4583014"/>
            <a:ext cx="8660904" cy="90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Multi-model ensemble approach, price trend prediction, explainable AI with SHAP values, and transfer learning.</a:t>
            </a:r>
          </a:p>
        </p:txBody>
      </p:sp>
      <p:sp>
        <p:nvSpPr>
          <p:cNvPr name="Freeform 15" id="15" descr="preencoded.png"/>
          <p:cNvSpPr/>
          <p:nvPr/>
        </p:nvSpPr>
        <p:spPr>
          <a:xfrm flipH="false" flipV="false" rot="0">
            <a:off x="901601" y="5998666"/>
            <a:ext cx="643979" cy="643979"/>
          </a:xfrm>
          <a:custGeom>
            <a:avLst/>
            <a:gdLst/>
            <a:ahLst/>
            <a:cxnLst/>
            <a:rect r="r" b="b" t="t" l="l"/>
            <a:pathLst>
              <a:path h="643979" w="643979">
                <a:moveTo>
                  <a:pt x="0" y="0"/>
                </a:moveTo>
                <a:lnTo>
                  <a:pt x="643979" y="0"/>
                </a:lnTo>
                <a:lnTo>
                  <a:pt x="643979" y="643979"/>
                </a:lnTo>
                <a:lnTo>
                  <a:pt x="0" y="64397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-6617" r="0" b="-6617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867495" y="6122937"/>
            <a:ext cx="3220342" cy="43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Application Features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67495" y="6632376"/>
            <a:ext cx="8660904" cy="90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User accounts with prediction history, phone comparison tool, native iOS &amp; Android apps, multi-currency support.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901601" y="8048030"/>
            <a:ext cx="643979" cy="643979"/>
          </a:xfrm>
          <a:custGeom>
            <a:avLst/>
            <a:gdLst/>
            <a:ahLst/>
            <a:cxnLst/>
            <a:rect r="r" b="b" t="t" l="l"/>
            <a:pathLst>
              <a:path h="643979" w="643979">
                <a:moveTo>
                  <a:pt x="0" y="0"/>
                </a:moveTo>
                <a:lnTo>
                  <a:pt x="643979" y="0"/>
                </a:lnTo>
                <a:lnTo>
                  <a:pt x="643979" y="643979"/>
                </a:lnTo>
                <a:lnTo>
                  <a:pt x="0" y="64397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-16176" t="0" r="-16176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867495" y="8172301"/>
            <a:ext cx="8084799" cy="403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4"/>
              </a:lnSpc>
            </a:pPr>
            <a:r>
              <a:rPr lang="en-US" sz="2499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Technical Enhancements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867495" y="8681740"/>
            <a:ext cx="8660904" cy="900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0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OAuth2/JWT authentication, real-time model retraining, microservices architecture, cloud deployment on AWS/Azure/GCP.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B1012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1C1D1F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496044" y="351681"/>
            <a:ext cx="3544044" cy="5775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37"/>
              </a:lnSpc>
            </a:pPr>
            <a:r>
              <a:rPr lang="en-US" sz="3549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Conclusion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96044" y="988070"/>
            <a:ext cx="11671649" cy="10191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35"/>
              </a:lnSpc>
            </a:pPr>
            <a:r>
              <a:rPr lang="en-US" sz="6362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99% Accuracy Achieved</a:t>
            </a:r>
          </a:p>
        </p:txBody>
      </p:sp>
      <p:sp>
        <p:nvSpPr>
          <p:cNvPr name="Freeform 8" id="8" descr="preencoded.png"/>
          <p:cNvSpPr/>
          <p:nvPr/>
        </p:nvSpPr>
        <p:spPr>
          <a:xfrm flipH="false" flipV="false" rot="0">
            <a:off x="496044" y="2161431"/>
            <a:ext cx="141685" cy="141685"/>
          </a:xfrm>
          <a:custGeom>
            <a:avLst/>
            <a:gdLst/>
            <a:ahLst/>
            <a:cxnLst/>
            <a:rect r="r" b="b" t="t" l="l"/>
            <a:pathLst>
              <a:path h="141685" w="141685">
                <a:moveTo>
                  <a:pt x="0" y="0"/>
                </a:moveTo>
                <a:lnTo>
                  <a:pt x="141685" y="0"/>
                </a:lnTo>
                <a:lnTo>
                  <a:pt x="141685" y="141685"/>
                </a:lnTo>
                <a:lnTo>
                  <a:pt x="0" y="1416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496044" y="2365474"/>
            <a:ext cx="8577114" cy="19050"/>
            <a:chOff x="0" y="0"/>
            <a:chExt cx="11436152" cy="254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436096" cy="25400"/>
            </a:xfrm>
            <a:custGeom>
              <a:avLst/>
              <a:gdLst/>
              <a:ahLst/>
              <a:cxnLst/>
              <a:rect r="r" b="b" t="t" l="l"/>
              <a:pathLst>
                <a:path h="25400" w="11436096">
                  <a:moveTo>
                    <a:pt x="0" y="0"/>
                  </a:moveTo>
                  <a:lnTo>
                    <a:pt x="11436096" y="0"/>
                  </a:lnTo>
                  <a:lnTo>
                    <a:pt x="1143609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496044" y="2455366"/>
            <a:ext cx="5454172" cy="34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9"/>
              </a:lnSpc>
            </a:pPr>
            <a:r>
              <a:rPr lang="en-US" sz="2174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AI-Powered Predictor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96044" y="2714179"/>
            <a:ext cx="8577114" cy="34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186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Developed with 99% accuracy using deep learning</a:t>
            </a:r>
          </a:p>
        </p:txBody>
      </p:sp>
      <p:sp>
        <p:nvSpPr>
          <p:cNvPr name="Freeform 13" id="13" descr="preencoded.png"/>
          <p:cNvSpPr/>
          <p:nvPr/>
        </p:nvSpPr>
        <p:spPr>
          <a:xfrm flipH="false" flipV="false" rot="0">
            <a:off x="9214842" y="2161431"/>
            <a:ext cx="141685" cy="141685"/>
          </a:xfrm>
          <a:custGeom>
            <a:avLst/>
            <a:gdLst/>
            <a:ahLst/>
            <a:cxnLst/>
            <a:rect r="r" b="b" t="t" l="l"/>
            <a:pathLst>
              <a:path h="141685" w="141685">
                <a:moveTo>
                  <a:pt x="0" y="0"/>
                </a:moveTo>
                <a:lnTo>
                  <a:pt x="141686" y="0"/>
                </a:lnTo>
                <a:lnTo>
                  <a:pt x="141686" y="141685"/>
                </a:lnTo>
                <a:lnTo>
                  <a:pt x="0" y="14168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9214842" y="2365474"/>
            <a:ext cx="8577114" cy="19050"/>
            <a:chOff x="0" y="0"/>
            <a:chExt cx="11436152" cy="254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436096" cy="25400"/>
            </a:xfrm>
            <a:custGeom>
              <a:avLst/>
              <a:gdLst/>
              <a:ahLst/>
              <a:cxnLst/>
              <a:rect r="r" b="b" t="t" l="l"/>
              <a:pathLst>
                <a:path h="25400" w="11436096">
                  <a:moveTo>
                    <a:pt x="0" y="0"/>
                  </a:moveTo>
                  <a:lnTo>
                    <a:pt x="11436096" y="0"/>
                  </a:lnTo>
                  <a:lnTo>
                    <a:pt x="1143609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9214842" y="2455366"/>
            <a:ext cx="3584534" cy="34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9"/>
              </a:lnSpc>
            </a:pPr>
            <a:r>
              <a:rPr lang="en-US" sz="2174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Accessible Web App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214842" y="2714179"/>
            <a:ext cx="8577114" cy="34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186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Fully accessible, professional interface with WCAG 2.1 AA compliance</a:t>
            </a:r>
          </a:p>
        </p:txBody>
      </p:sp>
      <p:sp>
        <p:nvSpPr>
          <p:cNvPr name="Freeform 18" id="18" descr="preencoded.png"/>
          <p:cNvSpPr/>
          <p:nvPr/>
        </p:nvSpPr>
        <p:spPr>
          <a:xfrm flipH="false" flipV="false" rot="0">
            <a:off x="496044" y="3273326"/>
            <a:ext cx="141685" cy="141685"/>
          </a:xfrm>
          <a:custGeom>
            <a:avLst/>
            <a:gdLst/>
            <a:ahLst/>
            <a:cxnLst/>
            <a:rect r="r" b="b" t="t" l="l"/>
            <a:pathLst>
              <a:path h="141685" w="141685">
                <a:moveTo>
                  <a:pt x="0" y="0"/>
                </a:moveTo>
                <a:lnTo>
                  <a:pt x="141685" y="0"/>
                </a:lnTo>
                <a:lnTo>
                  <a:pt x="141685" y="141685"/>
                </a:lnTo>
                <a:lnTo>
                  <a:pt x="0" y="1416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-3333" t="0" r="-3333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496044" y="3477369"/>
            <a:ext cx="8577114" cy="19050"/>
            <a:chOff x="0" y="0"/>
            <a:chExt cx="11436152" cy="254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1436096" cy="25400"/>
            </a:xfrm>
            <a:custGeom>
              <a:avLst/>
              <a:gdLst/>
              <a:ahLst/>
              <a:cxnLst/>
              <a:rect r="r" b="b" t="t" l="l"/>
              <a:pathLst>
                <a:path h="25400" w="11436096">
                  <a:moveTo>
                    <a:pt x="0" y="0"/>
                  </a:moveTo>
                  <a:lnTo>
                    <a:pt x="11436096" y="0"/>
                  </a:lnTo>
                  <a:lnTo>
                    <a:pt x="1143609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496044" y="3567261"/>
            <a:ext cx="4632030" cy="34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9"/>
              </a:lnSpc>
            </a:pPr>
            <a:r>
              <a:rPr lang="en-US" sz="2174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Production-Ready API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96044" y="3826074"/>
            <a:ext cx="8577114" cy="34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186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FastAPI implementation with scalable architecture</a:t>
            </a:r>
          </a:p>
        </p:txBody>
      </p:sp>
      <p:sp>
        <p:nvSpPr>
          <p:cNvPr name="Freeform 23" id="23" descr="preencoded.png"/>
          <p:cNvSpPr/>
          <p:nvPr/>
        </p:nvSpPr>
        <p:spPr>
          <a:xfrm flipH="false" flipV="false" rot="0">
            <a:off x="9214842" y="3273326"/>
            <a:ext cx="141685" cy="141685"/>
          </a:xfrm>
          <a:custGeom>
            <a:avLst/>
            <a:gdLst/>
            <a:ahLst/>
            <a:cxnLst/>
            <a:rect r="r" b="b" t="t" l="l"/>
            <a:pathLst>
              <a:path h="141685" w="141685">
                <a:moveTo>
                  <a:pt x="0" y="0"/>
                </a:moveTo>
                <a:lnTo>
                  <a:pt x="141686" y="0"/>
                </a:lnTo>
                <a:lnTo>
                  <a:pt x="141686" y="141685"/>
                </a:lnTo>
                <a:lnTo>
                  <a:pt x="0" y="14168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-3333" t="0" r="-3333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214842" y="3477369"/>
            <a:ext cx="8577114" cy="19050"/>
            <a:chOff x="0" y="0"/>
            <a:chExt cx="11436152" cy="25400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436096" cy="25400"/>
            </a:xfrm>
            <a:custGeom>
              <a:avLst/>
              <a:gdLst/>
              <a:ahLst/>
              <a:cxnLst/>
              <a:rect r="r" b="b" t="t" l="l"/>
              <a:pathLst>
                <a:path h="25400" w="11436096">
                  <a:moveTo>
                    <a:pt x="0" y="0"/>
                  </a:moveTo>
                  <a:lnTo>
                    <a:pt x="11436096" y="0"/>
                  </a:lnTo>
                  <a:lnTo>
                    <a:pt x="11436096" y="25400"/>
                  </a:lnTo>
                  <a:lnTo>
                    <a:pt x="0" y="25400"/>
                  </a:lnTo>
                  <a:close/>
                </a:path>
              </a:pathLst>
            </a:custGeom>
            <a:solidFill>
              <a:srgbClr val="9FA582"/>
            </a:solidFill>
          </p:spPr>
        </p:sp>
      </p:grpSp>
      <p:sp>
        <p:nvSpPr>
          <p:cNvPr name="TextBox 26" id="26"/>
          <p:cNvSpPr txBox="true"/>
          <p:nvPr/>
        </p:nvSpPr>
        <p:spPr>
          <a:xfrm rot="0">
            <a:off x="9214843" y="3567261"/>
            <a:ext cx="4549678" cy="3448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9"/>
              </a:lnSpc>
            </a:pPr>
            <a:r>
              <a:rPr lang="en-US" sz="2174" b="true">
                <a:solidFill>
                  <a:srgbClr val="C2C4B5"/>
                </a:solidFill>
                <a:latin typeface="Arimo Bold"/>
                <a:ea typeface="Arimo Bold"/>
                <a:cs typeface="Arimo Bold"/>
                <a:sym typeface="Arimo Bold"/>
              </a:rPr>
              <a:t>Excellence in Quality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214842" y="3826074"/>
            <a:ext cx="8577114" cy="34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7"/>
              </a:lnSpc>
            </a:pPr>
            <a:r>
              <a:rPr lang="en-US" sz="186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Best practices in accessibility, performance, and maintainability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96044" y="4498330"/>
            <a:ext cx="5186668" cy="3977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7"/>
              </a:lnSpc>
            </a:pPr>
            <a:r>
              <a:rPr lang="en-US" sz="2424" b="true">
                <a:solidFill>
                  <a:srgbClr val="E1E5CD"/>
                </a:solidFill>
                <a:latin typeface="Arimo Bold"/>
                <a:ea typeface="Arimo Bold"/>
                <a:cs typeface="Arimo Bold"/>
                <a:sym typeface="Arimo Bold"/>
              </a:rPr>
              <a:t>Real-World Impact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96044" y="4867721"/>
            <a:ext cx="8475018" cy="34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0886" indent="-140443" lvl="1">
              <a:lnSpc>
                <a:spcPts val="3067"/>
              </a:lnSpc>
              <a:buFont typeface="Arial"/>
              <a:buChar char="•"/>
            </a:pPr>
            <a:r>
              <a:rPr lang="en-US" sz="186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Helps consumers make informed purchasing decisions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96044" y="5144095"/>
            <a:ext cx="8475018" cy="34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0886" indent="-140443" lvl="1">
              <a:lnSpc>
                <a:spcPts val="3067"/>
              </a:lnSpc>
              <a:buFont typeface="Arial"/>
              <a:buChar char="•"/>
            </a:pPr>
            <a:r>
              <a:rPr lang="en-US" sz="186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Assists retailers in competitive pricing strategies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96044" y="5420469"/>
            <a:ext cx="8475018" cy="341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80886" indent="-140443" lvl="1">
              <a:lnSpc>
                <a:spcPts val="3067"/>
              </a:lnSpc>
              <a:buFont typeface="Arial"/>
              <a:buChar char="•"/>
            </a:pPr>
            <a:r>
              <a:rPr lang="en-US" sz="1862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Provides instant, accurate market analysis</a:t>
            </a:r>
          </a:p>
        </p:txBody>
      </p:sp>
      <p:grpSp>
        <p:nvGrpSpPr>
          <p:cNvPr name="Group 32" id="32"/>
          <p:cNvGrpSpPr>
            <a:grpSpLocks noChangeAspect="true"/>
          </p:cNvGrpSpPr>
          <p:nvPr/>
        </p:nvGrpSpPr>
        <p:grpSpPr>
          <a:xfrm rot="0">
            <a:off x="10100816" y="4659809"/>
            <a:ext cx="8475018" cy="8475018"/>
            <a:chOff x="0" y="0"/>
            <a:chExt cx="11300023" cy="11300023"/>
          </a:xfrm>
        </p:grpSpPr>
        <p:sp>
          <p:nvSpPr>
            <p:cNvPr name="Freeform 33" id="33" descr="preencoded.png"/>
            <p:cNvSpPr/>
            <p:nvPr/>
          </p:nvSpPr>
          <p:spPr>
            <a:xfrm flipH="false" flipV="false" rot="0">
              <a:off x="0" y="0"/>
              <a:ext cx="11300079" cy="11300079"/>
            </a:xfrm>
            <a:custGeom>
              <a:avLst/>
              <a:gdLst/>
              <a:ahLst/>
              <a:cxnLst/>
              <a:rect r="r" b="b" t="t" l="l"/>
              <a:pathLst>
                <a:path h="11300079" w="11300079">
                  <a:moveTo>
                    <a:pt x="0" y="0"/>
                  </a:moveTo>
                  <a:lnTo>
                    <a:pt x="11300079" y="0"/>
                  </a:lnTo>
                  <a:lnTo>
                    <a:pt x="11300079" y="11300079"/>
                  </a:lnTo>
                  <a:lnTo>
                    <a:pt x="0" y="11300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DAG2niB4v4A</dc:identifier>
  <dcterms:modified xsi:type="dcterms:W3CDTF">2011-08-01T06:04:30Z</dcterms:modified>
  <cp:revision>1</cp:revision>
  <dc:title>Mobile-Phone-Price-Predictor.pptx</dc:title>
</cp:coreProperties>
</file>